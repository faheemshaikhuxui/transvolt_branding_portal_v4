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4266590" y="822960"/>
            <a:ext cx="3657600" cy="379480"/>
          </a:xfrm>
          <a:prstGeom prst="rect">
            <a:avLst/>
          </a:prstGeom>
        </p:spPr>
      </p:pic>
      <p:sp>
        <p:nvSpPr>
          <p:cNvPr id="4" name="TextBox 3"/>
          <p:cNvSpPr txBox="1"/>
          <p:nvPr/>
        </p:nvSpPr>
        <p:spPr>
          <a:xfrm>
            <a:off x="914400" y="1691640"/>
            <a:ext cx="10362895" cy="822960"/>
          </a:xfrm>
          <a:prstGeom prst="rect">
            <a:avLst/>
          </a:prstGeom>
          <a:noFill/>
        </p:spPr>
        <p:txBody>
          <a:bodyPr wrap="square">
            <a:spAutoFit/>
          </a:bodyPr>
          <a:lstStyle/>
          <a:p>
            <a:pPr algn="ctr">
              <a:defRPr sz="3600" b="1">
                <a:solidFill>
                  <a:srgbClr val="22C55E"/>
                </a:solidFill>
              </a:defRPr>
            </a:pPr>
            <a:r>
              <a:t>BRAND MANAGEMENT PORTAL</a:t>
            </a:r>
          </a:p>
        </p:txBody>
      </p:sp>
      <p:sp>
        <p:nvSpPr>
          <p:cNvPr id="5" name="TextBox 4"/>
          <p:cNvSpPr txBox="1"/>
          <p:nvPr/>
        </p:nvSpPr>
        <p:spPr>
          <a:xfrm>
            <a:off x="1371600" y="2423160"/>
            <a:ext cx="9448495" cy="457200"/>
          </a:xfrm>
          <a:prstGeom prst="rect">
            <a:avLst/>
          </a:prstGeom>
          <a:noFill/>
        </p:spPr>
        <p:txBody>
          <a:bodyPr wrap="square">
            <a:spAutoFit/>
          </a:bodyPr>
          <a:lstStyle/>
          <a:p>
            <a:pPr algn="ctr">
              <a:defRPr sz="1700" b="1">
                <a:solidFill>
                  <a:srgbClr val="E2E8F0"/>
                </a:solidFill>
              </a:defRPr>
            </a:pPr>
            <a:r>
              <a:t>One Platform. One Trusted Source for Transvolt Branding.</a:t>
            </a:r>
          </a:p>
        </p:txBody>
      </p:sp>
      <p:sp>
        <p:nvSpPr>
          <p:cNvPr id="6" name="TextBox 5"/>
          <p:cNvSpPr txBox="1"/>
          <p:nvPr/>
        </p:nvSpPr>
        <p:spPr>
          <a:xfrm>
            <a:off x="1828800" y="2926080"/>
            <a:ext cx="8534095" cy="731520"/>
          </a:xfrm>
          <a:prstGeom prst="rect">
            <a:avLst/>
          </a:prstGeom>
          <a:noFill/>
        </p:spPr>
        <p:txBody>
          <a:bodyPr wrap="square">
            <a:spAutoFit/>
          </a:bodyPr>
          <a:lstStyle/>
          <a:p>
            <a:pPr algn="ctr">
              <a:defRPr sz="1200">
                <a:solidFill>
                  <a:srgbClr val="94A3B8"/>
                </a:solidFill>
              </a:defRPr>
            </a:pPr>
            <a:r>
              <a:t>A centralized enterprise platform to manage, access, verify, generate, share, and control Transvolt's approved brand assets, corporate information, and multi-location branding resources.</a:t>
            </a:r>
          </a:p>
        </p:txBody>
      </p:sp>
      <p:sp>
        <p:nvSpPr>
          <p:cNvPr id="7" name="Rounded Rectangle 6"/>
          <p:cNvSpPr/>
          <p:nvPr/>
        </p:nvSpPr>
        <p:spPr>
          <a:xfrm>
            <a:off x="1005840" y="3931920"/>
            <a:ext cx="2377440" cy="1645920"/>
          </a:xfrm>
          <a:prstGeom prst="roundRect">
            <a:avLst/>
          </a:prstGeom>
          <a:solidFill>
            <a:srgbClr val="161C2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069080"/>
            <a:ext cx="2103120" cy="1371600"/>
          </a:xfrm>
          <a:prstGeom prst="rect">
            <a:avLst/>
          </a:prstGeom>
          <a:noFill/>
        </p:spPr>
        <p:txBody>
          <a:bodyPr wrap="square">
            <a:spAutoFit/>
          </a:bodyPr>
          <a:lstStyle/>
          <a:p>
            <a:pPr>
              <a:defRPr sz="1300" b="1">
                <a:solidFill>
                  <a:srgbClr val="FFFFFF"/>
                </a:solidFill>
              </a:defRPr>
            </a:pPr>
            <a:r>
              <a:t>Single Source of Truth</a:t>
            </a:r>
          </a:p>
          <a:p>
            <a:pPr>
              <a:spcBef>
                <a:spcPts val="600"/>
              </a:spcBef>
              <a:defRPr sz="1000">
                <a:solidFill>
                  <a:srgbClr val="94A3B8"/>
                </a:solidFill>
              </a:defRPr>
            </a:pPr>
            <a:r>
              <a:t>One official destination for all approved Transvolt branding assets.</a:t>
            </a:r>
          </a:p>
        </p:txBody>
      </p:sp>
      <p:sp>
        <p:nvSpPr>
          <p:cNvPr id="9" name="Rounded Rectangle 8"/>
          <p:cNvSpPr/>
          <p:nvPr/>
        </p:nvSpPr>
        <p:spPr>
          <a:xfrm>
            <a:off x="3602736" y="3931920"/>
            <a:ext cx="2377440" cy="1645920"/>
          </a:xfrm>
          <a:prstGeom prst="roundRect">
            <a:avLst/>
          </a:prstGeom>
          <a:solidFill>
            <a:srgbClr val="161C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9896" y="4069080"/>
            <a:ext cx="2103120" cy="1371600"/>
          </a:xfrm>
          <a:prstGeom prst="rect">
            <a:avLst/>
          </a:prstGeom>
          <a:noFill/>
        </p:spPr>
        <p:txBody>
          <a:bodyPr wrap="square">
            <a:spAutoFit/>
          </a:bodyPr>
          <a:lstStyle/>
          <a:p>
            <a:pPr>
              <a:defRPr sz="1300" b="1">
                <a:solidFill>
                  <a:srgbClr val="FFFFFF"/>
                </a:solidFill>
              </a:defRPr>
            </a:pPr>
            <a:r>
              <a:t>Lossless Formats Vault</a:t>
            </a:r>
          </a:p>
          <a:p>
            <a:pPr>
              <a:spcBef>
                <a:spcPts val="600"/>
              </a:spcBef>
              <a:defRPr sz="1000">
                <a:solidFill>
                  <a:srgbClr val="94A3B8"/>
                </a:solidFill>
              </a:defRPr>
            </a:pPr>
            <a:r>
              <a:t>Production-ready vector files (SVG, CDR, AI) for flawless printing.</a:t>
            </a:r>
          </a:p>
        </p:txBody>
      </p:sp>
      <p:sp>
        <p:nvSpPr>
          <p:cNvPr id="11" name="Rounded Rectangle 10"/>
          <p:cNvSpPr/>
          <p:nvPr/>
        </p:nvSpPr>
        <p:spPr>
          <a:xfrm>
            <a:off x="6199632" y="3931920"/>
            <a:ext cx="2377440" cy="1645920"/>
          </a:xfrm>
          <a:prstGeom prst="roundRect">
            <a:avLst/>
          </a:prstGeom>
          <a:solidFill>
            <a:srgbClr val="161C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4069080"/>
            <a:ext cx="2103120" cy="1371600"/>
          </a:xfrm>
          <a:prstGeom prst="rect">
            <a:avLst/>
          </a:prstGeom>
          <a:noFill/>
        </p:spPr>
        <p:txBody>
          <a:bodyPr wrap="square">
            <a:spAutoFit/>
          </a:bodyPr>
          <a:lstStyle/>
          <a:p>
            <a:pPr>
              <a:defRPr sz="1300" b="1">
                <a:solidFill>
                  <a:srgbClr val="FFFFFF"/>
                </a:solidFill>
              </a:defRPr>
            </a:pPr>
            <a:r>
              <a:t>Fleet &amp; Charger Standards</a:t>
            </a:r>
          </a:p>
          <a:p>
            <a:pPr>
              <a:spcBef>
                <a:spcPts val="600"/>
              </a:spcBef>
              <a:defRPr sz="1000">
                <a:solidFill>
                  <a:srgbClr val="94A3B8"/>
                </a:solidFill>
              </a:defRPr>
            </a:pPr>
            <a:r>
              <a:t>Exact OEM chassis measurements for fleet buses and depot chargers.</a:t>
            </a:r>
          </a:p>
        </p:txBody>
      </p:sp>
      <p:sp>
        <p:nvSpPr>
          <p:cNvPr id="13" name="Rounded Rectangle 12"/>
          <p:cNvSpPr/>
          <p:nvPr/>
        </p:nvSpPr>
        <p:spPr>
          <a:xfrm>
            <a:off x="8796528" y="3931920"/>
            <a:ext cx="2377440" cy="1645920"/>
          </a:xfrm>
          <a:prstGeom prst="roundRect">
            <a:avLst/>
          </a:prstGeom>
          <a:solidFill>
            <a:srgbClr val="161C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33688" y="4069080"/>
            <a:ext cx="2103120" cy="1371600"/>
          </a:xfrm>
          <a:prstGeom prst="rect">
            <a:avLst/>
          </a:prstGeom>
          <a:noFill/>
        </p:spPr>
        <p:txBody>
          <a:bodyPr wrap="square">
            <a:spAutoFit/>
          </a:bodyPr>
          <a:lstStyle/>
          <a:p>
            <a:pPr>
              <a:defRPr sz="1300" b="1">
                <a:solidFill>
                  <a:srgbClr val="FFFFFF"/>
                </a:solidFill>
              </a:defRPr>
            </a:pPr>
            <a:r>
              <a:t>Role-Based Governance</a:t>
            </a:r>
          </a:p>
          <a:p>
            <a:pPr>
              <a:spcBef>
                <a:spcPts val="600"/>
              </a:spcBef>
              <a:defRPr sz="1000">
                <a:solidFill>
                  <a:srgbClr val="94A3B8"/>
                </a:solidFill>
              </a:defRPr>
            </a:pPr>
            <a:r>
              <a:t>Granular permissions with auto-expiring 6-hour vendor packages.</a:t>
            </a:r>
          </a:p>
        </p:txBody>
      </p:sp>
      <p:sp>
        <p:nvSpPr>
          <p:cNvPr id="15" name="TextBox 14"/>
          <p:cNvSpPr txBox="1"/>
          <p:nvPr/>
        </p:nvSpPr>
        <p:spPr>
          <a:xfrm>
            <a:off x="914400" y="6035040"/>
            <a:ext cx="10362895" cy="365760"/>
          </a:xfrm>
          <a:prstGeom prst="rect">
            <a:avLst/>
          </a:prstGeom>
          <a:noFill/>
        </p:spPr>
        <p:txBody>
          <a:bodyPr wrap="none">
            <a:spAutoFit/>
          </a:bodyPr>
          <a:lstStyle/>
          <a:p>
            <a:pPr algn="ctr">
              <a:defRPr sz="1000" b="1">
                <a:solidFill>
                  <a:srgbClr val="475569"/>
                </a:solidFill>
              </a:defRPr>
            </a:pPr>
            <a:r>
              <a:t>TRANSVOLT MOBILITY • ENTERPRISE BRAND MANAGEMENT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01 — WHY THIS PORTAL?</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Why This Portal?</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Solving Real Branding &amp; Operational Challenges</a:t>
            </a:r>
          </a:p>
          <a:p>
            <a:pPr>
              <a:spcBef>
                <a:spcPts val="800"/>
              </a:spcBef>
              <a:defRPr sz="1100">
                <a:solidFill>
                  <a:srgbClr val="94A3B8"/>
                </a:solidFill>
              </a:defRPr>
            </a:pPr>
            <a:r>
              <a:t>As Transvolt operates across multiple states, companies, sites, projects, OEMs, stakeholders, employees, and vendors, managing the right branding information and approved assets becomes increasingly complex. The portal solves these practical operational challenges through one controlled and trusted platform.</a:t>
            </a:r>
          </a:p>
          <a:p>
            <a:pPr>
              <a:spcBef>
                <a:spcPts val="1200"/>
              </a:spcBef>
              <a:defRPr sz="950" b="1">
                <a:solidFill>
                  <a:srgbClr val="22C55E"/>
                </a:solidFill>
              </a:defRPr>
            </a:pPr>
            <a:r>
              <a:t>KEY ATTRIBUTES &amp; PROTOCOLS:</a:t>
            </a:r>
          </a:p>
          <a:p>
            <a:pPr>
              <a:spcBef>
                <a:spcPts val="400"/>
              </a:spcBef>
              <a:defRPr sz="1050">
                <a:solidFill>
                  <a:srgbClr val="E2E8F0"/>
                </a:solidFill>
              </a:defRPr>
            </a:pPr>
            <a:r>
              <a:t>•   Multi-state transit operations across India</a:t>
            </a:r>
          </a:p>
          <a:p>
            <a:pPr>
              <a:spcBef>
                <a:spcPts val="400"/>
              </a:spcBef>
              <a:defRPr sz="1050">
                <a:solidFill>
                  <a:srgbClr val="E2E8F0"/>
                </a:solidFill>
              </a:defRPr>
            </a:pPr>
            <a:r>
              <a:t>•   Multiple legal entities &amp; operating subsidiaries</a:t>
            </a:r>
          </a:p>
          <a:p>
            <a:pPr>
              <a:spcBef>
                <a:spcPts val="400"/>
              </a:spcBef>
              <a:defRPr sz="1050">
                <a:solidFill>
                  <a:srgbClr val="E2E8F0"/>
                </a:solidFill>
              </a:defRPr>
            </a:pPr>
            <a:r>
              <a:t>•   Frequent vendor logo &amp; high-res artwork requests</a:t>
            </a:r>
          </a:p>
          <a:p>
            <a:pPr>
              <a:spcBef>
                <a:spcPts val="400"/>
              </a:spcBef>
              <a:defRPr sz="1050">
                <a:solidFill>
                  <a:srgbClr val="E2E8F0"/>
                </a:solidFill>
              </a:defRPr>
            </a:pPr>
            <a:r>
              <a:t>•   Site-wise depot teams needing rapid brand access</a:t>
            </a:r>
          </a:p>
          <a:p>
            <a:pPr>
              <a:spcBef>
                <a:spcPts val="400"/>
              </a:spcBef>
              <a:defRPr sz="1050">
                <a:solidFill>
                  <a:srgbClr val="E2E8F0"/>
                </a:solidFill>
              </a:defRPr>
            </a:pPr>
            <a:r>
              <a:t>•   Zero tolerance for unapproved brand circulation</a:t>
            </a:r>
          </a:p>
          <a:p>
            <a:pPr>
              <a:spcBef>
                <a:spcPts val="400"/>
              </a:spcBef>
              <a:defRPr sz="1050">
                <a:solidFill>
                  <a:srgbClr val="E2E8F0"/>
                </a:solidFill>
              </a:defRPr>
            </a:pPr>
            <a:r>
              <a:t>•   Need for verifiable corporate legal credentials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Controlled Access</a:t>
            </a:r>
          </a:p>
          <a:p>
            <a:pPr>
              <a:spcBef>
                <a:spcPts val="400"/>
              </a:spcBef>
              <a:defRPr sz="950">
                <a:solidFill>
                  <a:srgbClr val="94A3B8"/>
                </a:solidFill>
              </a:defRPr>
            </a:pPr>
            <a:r>
              <a:t>Super Admin grants in-house employees &amp; external partners exact permissions (View, Download, Edit, Manage).</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Employee ID &amp; Cards</a:t>
            </a:r>
          </a:p>
          <a:p>
            <a:pPr>
              <a:spcBef>
                <a:spcPts val="400"/>
              </a:spcBef>
              <a:defRPr sz="950">
                <a:solidFill>
                  <a:srgbClr val="94A3B8"/>
                </a:solidFill>
              </a:defRPr>
            </a:pPr>
            <a:r>
              <a:t>Maintained site-wise. Instant generation of official ID Cards and Business Cards with secure timed links.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Org Hierarchy</a:t>
            </a:r>
          </a:p>
          <a:p>
            <a:pPr>
              <a:spcBef>
                <a:spcPts val="400"/>
              </a:spcBef>
              <a:defRPr sz="950">
                <a:solidFill>
                  <a:srgbClr val="94A3B8"/>
                </a:solidFill>
              </a:defRPr>
            </a:pPr>
            <a:r>
              <a:t>Maintains site-wise team hierarchy, auto-arranged reporting structures, and interactive department trees.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6-Hour Vendor Links</a:t>
            </a:r>
          </a:p>
          <a:p>
            <a:pPr>
              <a:spcBef>
                <a:spcPts val="400"/>
              </a:spcBef>
              <a:defRPr sz="950">
                <a:solidFill>
                  <a:srgbClr val="94A3B8"/>
                </a:solidFill>
              </a:defRPr>
            </a:pPr>
            <a:r>
              <a:t>Generates time-limited 6-hour links with approved SVG, PNG, CDR, and exact color codes. No manual email chains.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Multi-Firm Letterheads</a:t>
            </a:r>
          </a:p>
          <a:p>
            <a:pPr>
              <a:spcBef>
                <a:spcPts val="400"/>
              </a:spcBef>
              <a:defRPr sz="950">
                <a:solidFill>
                  <a:srgbClr val="94A3B8"/>
                </a:solidFill>
              </a:defRPr>
            </a:pPr>
            <a:r>
              <a:t>Correct letterheads for each Transvolt legal entity in one place, ensuring Legal and Tax compliance.</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Fleet Wrap Control</a:t>
            </a:r>
          </a:p>
          <a:p>
            <a:pPr>
              <a:spcBef>
                <a:spcPts val="400"/>
              </a:spcBef>
              <a:defRPr sz="950">
                <a:solidFill>
                  <a:srgbClr val="94A3B8"/>
                </a:solidFill>
              </a:defRPr>
            </a:pPr>
            <a:r>
              <a:t>Store approved artwork for each specific OEM chassis, vehicle model &amp; charger dimension before press.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2 of 25  |  Transvolt Mobility Brand Management Portal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02 — WHAT IS THE PORTAL?</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What is the Brand Portal?</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The Single Source of Truth for Transvolt</a:t>
            </a:r>
          </a:p>
          <a:p>
            <a:pPr>
              <a:spcBef>
                <a:spcPts val="800"/>
              </a:spcBef>
              <a:defRPr sz="1100">
                <a:solidFill>
                  <a:srgbClr val="94A3B8"/>
                </a:solidFill>
              </a:defRPr>
            </a:pPr>
            <a:r>
              <a:t>The portal acts as the centralized enterprise platform for Transvolt's branding ecosystem, bringing every corporate department, regional depot, and external agency into complete brand alignment.</a:t>
            </a:r>
          </a:p>
          <a:p>
            <a:pPr>
              <a:spcBef>
                <a:spcPts val="1200"/>
              </a:spcBef>
              <a:defRPr sz="950" b="1">
                <a:solidFill>
                  <a:srgbClr val="22C55E"/>
                </a:solidFill>
              </a:defRPr>
            </a:pPr>
            <a:r>
              <a:t>KEY ATTRIBUTES &amp; PROTOCOLS:</a:t>
            </a:r>
          </a:p>
          <a:p>
            <a:pPr>
              <a:spcBef>
                <a:spcPts val="400"/>
              </a:spcBef>
              <a:defRPr sz="1050">
                <a:solidFill>
                  <a:srgbClr val="E2E8F0"/>
                </a:solidFill>
              </a:defRPr>
            </a:pPr>
            <a:r>
              <a:t>•   One trusted destination for every approved file</a:t>
            </a:r>
          </a:p>
          <a:p>
            <a:pPr>
              <a:spcBef>
                <a:spcPts val="400"/>
              </a:spcBef>
              <a:defRPr sz="1050">
                <a:solidFill>
                  <a:srgbClr val="E2E8F0"/>
                </a:solidFill>
              </a:defRPr>
            </a:pPr>
            <a:r>
              <a:t>•   100% loss-free vector &amp; print assets (SVG, CDR, PDF)</a:t>
            </a:r>
          </a:p>
          <a:p>
            <a:pPr>
              <a:spcBef>
                <a:spcPts val="400"/>
              </a:spcBef>
              <a:defRPr sz="1050">
                <a:solidFill>
                  <a:srgbClr val="E2E8F0"/>
                </a:solidFill>
              </a:defRPr>
            </a:pPr>
            <a:r>
              <a:t>•   Real-time synchronization across all regional depots</a:t>
            </a:r>
          </a:p>
          <a:p>
            <a:pPr>
              <a:spcBef>
                <a:spcPts val="400"/>
              </a:spcBef>
              <a:defRPr sz="1050">
                <a:solidFill>
                  <a:srgbClr val="E2E8F0"/>
                </a:solidFill>
              </a:defRPr>
            </a:pPr>
            <a:r>
              <a:t>•   Direct self-service for authorized team members</a:t>
            </a:r>
          </a:p>
          <a:p>
            <a:pPr>
              <a:spcBef>
                <a:spcPts val="400"/>
              </a:spcBef>
              <a:defRPr sz="1050">
                <a:solidFill>
                  <a:srgbClr val="E2E8F0"/>
                </a:solidFill>
              </a:defRPr>
            </a:pPr>
            <a:r>
              <a:t>•   Multi-entity legal stationery compliance guaranteed</a:t>
            </a:r>
          </a:p>
          <a:p>
            <a:pPr>
              <a:spcBef>
                <a:spcPts val="400"/>
              </a:spcBef>
              <a:defRPr sz="1050">
                <a:solidFill>
                  <a:srgbClr val="E2E8F0"/>
                </a:solidFill>
              </a:defRPr>
            </a:pPr>
            <a:r>
              <a:t>•   Zero dependency on ad-hoc email chains or WhatsApp</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Brand Identity Hub</a:t>
            </a:r>
          </a:p>
          <a:p>
            <a:pPr>
              <a:spcBef>
                <a:spcPts val="400"/>
              </a:spcBef>
              <a:defRPr sz="950">
                <a:solidFill>
                  <a:srgbClr val="94A3B8"/>
                </a:solidFill>
              </a:defRPr>
            </a:pPr>
            <a:r>
              <a:t>Official logos, clear space, primary and secondary brand palettes.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Corporate Documents</a:t>
            </a:r>
          </a:p>
          <a:p>
            <a:pPr>
              <a:spcBef>
                <a:spcPts val="400"/>
              </a:spcBef>
              <a:defRPr sz="950">
                <a:solidFill>
                  <a:srgbClr val="94A3B8"/>
                </a:solidFill>
              </a:defRPr>
            </a:pPr>
            <a:r>
              <a:t>Verified multi-entity letterheads &amp; official Word stationery templates.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Employee Identity Data</a:t>
            </a:r>
          </a:p>
          <a:p>
            <a:pPr>
              <a:spcBef>
                <a:spcPts val="400"/>
              </a:spcBef>
              <a:defRPr sz="950">
                <a:solidFill>
                  <a:srgbClr val="94A3B8"/>
                </a:solidFill>
              </a:defRPr>
            </a:pPr>
            <a:r>
              <a:t>Site-wise employee rosters &amp; automated official ID card generator.</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Digital &amp; Print Collateral</a:t>
            </a:r>
          </a:p>
          <a:p>
            <a:pPr>
              <a:spcBef>
                <a:spcPts val="400"/>
              </a:spcBef>
              <a:defRPr sz="950">
                <a:solidFill>
                  <a:srgbClr val="94A3B8"/>
                </a:solidFill>
              </a:defRPr>
            </a:pPr>
            <a:r>
              <a:t>Social media, official emailers, brochures, and depot signage templates.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Fleet &amp; Charger Wraps</a:t>
            </a:r>
          </a:p>
          <a:p>
            <a:pPr>
              <a:spcBef>
                <a:spcPts val="400"/>
              </a:spcBef>
              <a:defRPr sz="950">
                <a:solidFill>
                  <a:srgbClr val="94A3B8"/>
                </a:solidFill>
              </a:defRPr>
            </a:pPr>
            <a:r>
              <a:t>OEM-specific body wraps and high-voltage charging depot specifications.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Controlled Timed Sharing</a:t>
            </a:r>
          </a:p>
          <a:p>
            <a:pPr>
              <a:spcBef>
                <a:spcPts val="400"/>
              </a:spcBef>
              <a:defRPr sz="950">
                <a:solidFill>
                  <a:srgbClr val="94A3B8"/>
                </a:solidFill>
              </a:defRPr>
            </a:pPr>
            <a:r>
              <a:t>6-Hour secure link generator &amp; granular role-based permissions.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3 of 25  |  Transvolt Mobility Brand Management Portal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03 — DASHBOARD</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Dashboard Overview</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Brand Management at a Glance</a:t>
            </a:r>
          </a:p>
          <a:p>
            <a:pPr>
              <a:spcBef>
                <a:spcPts val="800"/>
              </a:spcBef>
              <a:defRPr sz="1100">
                <a:solidFill>
                  <a:srgbClr val="94A3B8"/>
                </a:solidFill>
              </a:defRPr>
            </a:pPr>
            <a:r>
              <a:t>The Dashboard gives team members and leadership an executive birds-eye overview of the brand ecosystem, highlighting recently updated assets, pending approvals, and high-frequency quick links.</a:t>
            </a:r>
          </a:p>
          <a:p>
            <a:pPr>
              <a:spcBef>
                <a:spcPts val="1200"/>
              </a:spcBef>
              <a:defRPr sz="950" b="1">
                <a:solidFill>
                  <a:srgbClr val="22C55E"/>
                </a:solidFill>
              </a:defRPr>
            </a:pPr>
            <a:r>
              <a:t>KEY ATTRIBUTES &amp; PROTOCOLS:</a:t>
            </a:r>
          </a:p>
          <a:p>
            <a:pPr>
              <a:spcBef>
                <a:spcPts val="400"/>
              </a:spcBef>
              <a:defRPr sz="1050">
                <a:solidFill>
                  <a:srgbClr val="E2E8F0"/>
                </a:solidFill>
              </a:defRPr>
            </a:pPr>
            <a:r>
              <a:t>•   Global instant search across all 11+ brand categories</a:t>
            </a:r>
          </a:p>
          <a:p>
            <a:pPr>
              <a:spcBef>
                <a:spcPts val="400"/>
              </a:spcBef>
              <a:defRPr sz="1050">
                <a:solidFill>
                  <a:srgbClr val="E2E8F0"/>
                </a:solidFill>
              </a:defRPr>
            </a:pPr>
            <a:r>
              <a:t>•   Real-time notifications for updates, requests, and approvals</a:t>
            </a:r>
          </a:p>
          <a:p>
            <a:pPr>
              <a:spcBef>
                <a:spcPts val="400"/>
              </a:spcBef>
              <a:defRPr sz="1050">
                <a:solidFill>
                  <a:srgbClr val="E2E8F0"/>
                </a:solidFill>
              </a:defRPr>
            </a:pPr>
            <a:r>
              <a:t>•   Quick-access shortcuts to frequently downloaded files</a:t>
            </a:r>
          </a:p>
          <a:p>
            <a:pPr>
              <a:spcBef>
                <a:spcPts val="400"/>
              </a:spcBef>
              <a:defRPr sz="1050">
                <a:solidFill>
                  <a:srgbClr val="E2E8F0"/>
                </a:solidFill>
              </a:defRPr>
            </a:pPr>
            <a:r>
              <a:t>•   Clear lifecycle indicators (Active, Hold, Draft, Reviewed)</a:t>
            </a:r>
          </a:p>
          <a:p>
            <a:pPr>
              <a:spcBef>
                <a:spcPts val="400"/>
              </a:spcBef>
              <a:defRPr sz="1050">
                <a:solidFill>
                  <a:srgbClr val="E2E8F0"/>
                </a:solidFill>
              </a:defRPr>
            </a:pPr>
            <a:r>
              <a:t>•   Live repository metrics tracking total assets and downloads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Global Search Engine</a:t>
            </a:r>
          </a:p>
          <a:p>
            <a:pPr>
              <a:spcBef>
                <a:spcPts val="400"/>
              </a:spcBef>
              <a:defRPr sz="950">
                <a:solidFill>
                  <a:srgbClr val="94A3B8"/>
                </a:solidFill>
              </a:defRPr>
            </a:pPr>
            <a:r>
              <a:t>Type keywords to locate exact files, color specs, or documents instantly.</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Live Activity Feed</a:t>
            </a:r>
          </a:p>
          <a:p>
            <a:pPr>
              <a:spcBef>
                <a:spcPts val="400"/>
              </a:spcBef>
              <a:defRPr sz="950">
                <a:solidFill>
                  <a:srgbClr val="94A3B8"/>
                </a:solidFill>
              </a:defRPr>
            </a:pPr>
            <a:r>
              <a:t>Audit log of recently uploaded artwork, edits, and team access requests.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Rapid Download Hub</a:t>
            </a:r>
          </a:p>
          <a:p>
            <a:pPr>
              <a:spcBef>
                <a:spcPts val="400"/>
              </a:spcBef>
              <a:defRPr sz="950">
                <a:solidFill>
                  <a:srgbClr val="94A3B8"/>
                </a:solidFill>
              </a:defRPr>
            </a:pPr>
            <a:r>
              <a:t>1-Click downloads of standard brand kits, logos, and vector suites.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Multi-Category Matrix</a:t>
            </a:r>
          </a:p>
          <a:p>
            <a:pPr>
              <a:spcBef>
                <a:spcPts val="400"/>
              </a:spcBef>
              <a:defRPr sz="950">
                <a:solidFill>
                  <a:srgbClr val="94A3B8"/>
                </a:solidFill>
              </a:defRPr>
            </a:pPr>
            <a:r>
              <a:t>Direct navigation to Letterhead, Vehicles, Typography, and Identity.</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Asset Status Control</a:t>
            </a:r>
          </a:p>
          <a:p>
            <a:pPr>
              <a:spcBef>
                <a:spcPts val="400"/>
              </a:spcBef>
              <a:defRPr sz="950">
                <a:solidFill>
                  <a:srgbClr val="94A3B8"/>
                </a:solidFill>
              </a:defRPr>
            </a:pPr>
            <a:r>
              <a:t>Instantly toggle assets to On Hold or Inactive to block downloads.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Notification Center</a:t>
            </a:r>
          </a:p>
          <a:p>
            <a:pPr>
              <a:spcBef>
                <a:spcPts val="400"/>
              </a:spcBef>
              <a:defRPr sz="950">
                <a:solidFill>
                  <a:srgbClr val="94A3B8"/>
                </a:solidFill>
              </a:defRPr>
            </a:pPr>
            <a:r>
              <a:t>Interactive bell notifying admins of pending portal access requests.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4 of 25  |  Transvolt Mobility Brand Management Portal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04 — LOGO &amp; COLOR</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Logo &amp; Color System</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One Official Source for Brand Identity</a:t>
            </a:r>
          </a:p>
          <a:p>
            <a:pPr>
              <a:spcBef>
                <a:spcPts val="800"/>
              </a:spcBef>
              <a:defRPr sz="1100">
                <a:solidFill>
                  <a:srgbClr val="94A3B8"/>
                </a:solidFill>
              </a:defRPr>
            </a:pPr>
            <a:r>
              <a:t>Multi-format vector and transparent logos with precise hex, RGB, and CMYK color standards. Eliminates outdated logos and pixelated low-res assets across all digital platforms, physical signage, and print collateral.</a:t>
            </a:r>
          </a:p>
          <a:p>
            <a:pPr>
              <a:spcBef>
                <a:spcPts val="1200"/>
              </a:spcBef>
              <a:defRPr sz="950" b="1">
                <a:solidFill>
                  <a:srgbClr val="22C55E"/>
                </a:solidFill>
              </a:defRPr>
            </a:pPr>
            <a:r>
              <a:t>KEY ATTRIBUTES &amp; PROTOCOLS:</a:t>
            </a:r>
          </a:p>
          <a:p>
            <a:pPr>
              <a:spcBef>
                <a:spcPts val="400"/>
              </a:spcBef>
              <a:defRPr sz="1050">
                <a:solidFill>
                  <a:srgbClr val="E2E8F0"/>
                </a:solidFill>
              </a:defRPr>
            </a:pPr>
            <a:r>
              <a:t>•   Primary White Logo with Signature Green &amp; Blue Arrows</a:t>
            </a:r>
          </a:p>
          <a:p>
            <a:pPr>
              <a:spcBef>
                <a:spcPts val="400"/>
              </a:spcBef>
              <a:defRPr sz="1050">
                <a:solidFill>
                  <a:srgbClr val="E2E8F0"/>
                </a:solidFill>
              </a:defRPr>
            </a:pPr>
            <a:r>
              <a:t>•   Secondary Monochrome, Black &amp; Full White Variants</a:t>
            </a:r>
          </a:p>
          <a:p>
            <a:pPr>
              <a:spcBef>
                <a:spcPts val="400"/>
              </a:spcBef>
              <a:defRPr sz="1050">
                <a:solidFill>
                  <a:srgbClr val="E2E8F0"/>
                </a:solidFill>
              </a:defRPr>
            </a:pPr>
            <a:r>
              <a:t>•   Lossless transparent PNG, scalable SVG, CDR &amp; PDF</a:t>
            </a:r>
          </a:p>
          <a:p>
            <a:pPr>
              <a:spcBef>
                <a:spcPts val="400"/>
              </a:spcBef>
              <a:defRPr sz="1050">
                <a:solidFill>
                  <a:srgbClr val="E2E8F0"/>
                </a:solidFill>
              </a:defRPr>
            </a:pPr>
            <a:r>
              <a:t>•   High-resolution vector outputs calibrated for print presses</a:t>
            </a:r>
          </a:p>
          <a:p>
            <a:pPr>
              <a:spcBef>
                <a:spcPts val="400"/>
              </a:spcBef>
              <a:defRPr sz="1050">
                <a:solidFill>
                  <a:srgbClr val="E2E8F0"/>
                </a:solidFill>
              </a:defRPr>
            </a:pPr>
            <a:r>
              <a:t>•   Exact hex codes (#548235 Green, #00A4EF / #3B82F6 Blue)</a:t>
            </a:r>
          </a:p>
          <a:p>
            <a:pPr>
              <a:spcBef>
                <a:spcPts val="400"/>
              </a:spcBef>
              <a:defRPr sz="1050">
                <a:solidFill>
                  <a:srgbClr val="E2E8F0"/>
                </a:solidFill>
              </a:defRPr>
            </a:pPr>
            <a:r>
              <a:t>•   Pre-approved clear space rules &amp; minimum dimension limits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Transparent PNG Vault</a:t>
            </a:r>
          </a:p>
          <a:p>
            <a:pPr>
              <a:spcBef>
                <a:spcPts val="400"/>
              </a:spcBef>
              <a:defRPr sz="950">
                <a:solidFill>
                  <a:srgbClr val="94A3B8"/>
                </a:solidFill>
              </a:defRPr>
            </a:pPr>
            <a:r>
              <a:t>Ultra-sharp alpha channel PNGs for digital apps, slides, and web interfaces.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Scalable Vector SVG</a:t>
            </a:r>
          </a:p>
          <a:p>
            <a:pPr>
              <a:spcBef>
                <a:spcPts val="400"/>
              </a:spcBef>
              <a:defRPr sz="950">
                <a:solidFill>
                  <a:srgbClr val="94A3B8"/>
                </a:solidFill>
              </a:defRPr>
            </a:pPr>
            <a:r>
              <a:t>Infinitely scalable vector assets that never lose crispness or resolution.</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CorelDraw CDR Suite</a:t>
            </a:r>
          </a:p>
          <a:p>
            <a:pPr>
              <a:spcBef>
                <a:spcPts val="400"/>
              </a:spcBef>
              <a:defRPr sz="950">
                <a:solidFill>
                  <a:srgbClr val="94A3B8"/>
                </a:solidFill>
              </a:defRPr>
            </a:pPr>
            <a:r>
              <a:t>Native CDR artwork files required by vinyl wrap cutters and outdoor signboards.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Vector PDF Standards</a:t>
            </a:r>
          </a:p>
          <a:p>
            <a:pPr>
              <a:spcBef>
                <a:spcPts val="400"/>
              </a:spcBef>
              <a:defRPr sz="950">
                <a:solidFill>
                  <a:srgbClr val="94A3B8"/>
                </a:solidFill>
              </a:defRPr>
            </a:pPr>
            <a:r>
              <a:t>Commercial print-ready files embedding spot colors and outlined fonts.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Exact Brand Palettes</a:t>
            </a:r>
          </a:p>
          <a:p>
            <a:pPr>
              <a:spcBef>
                <a:spcPts val="400"/>
              </a:spcBef>
              <a:defRPr sz="950">
                <a:solidFill>
                  <a:srgbClr val="94A3B8"/>
                </a:solidFill>
              </a:defRPr>
            </a:pPr>
            <a:r>
              <a:t>Standardized color codes: HEX, RGB, CMYK, and Pantone matching.</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6-Hour Vendor Links</a:t>
            </a:r>
          </a:p>
          <a:p>
            <a:pPr>
              <a:spcBef>
                <a:spcPts val="400"/>
              </a:spcBef>
              <a:defRPr sz="950">
                <a:solidFill>
                  <a:srgbClr val="94A3B8"/>
                </a:solidFill>
              </a:defRPr>
            </a:pPr>
            <a:r>
              <a:t>Generate timed direct download links for external printers with 1 click.</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5 of 25  |  Transvolt Mobility Brand Management Portal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05 — TYPOGRAPHY</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Typography Guidelines</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Consistent Brand Communication</a:t>
            </a:r>
          </a:p>
          <a:p>
            <a:pPr>
              <a:spcBef>
                <a:spcPts val="800"/>
              </a:spcBef>
              <a:defRPr sz="1100">
                <a:solidFill>
                  <a:srgbClr val="94A3B8"/>
                </a:solidFill>
              </a:defRPr>
            </a:pPr>
            <a:r>
              <a:t>Official typefaces and hierarchical typography guidelines ensuring clean, legible, and authoritative communication across digital interfaces, marketing collateral, and corporate legal correspondence.</a:t>
            </a:r>
          </a:p>
          <a:p>
            <a:pPr>
              <a:spcBef>
                <a:spcPts val="1200"/>
              </a:spcBef>
              <a:defRPr sz="950" b="1">
                <a:solidFill>
                  <a:srgbClr val="22C55E"/>
                </a:solidFill>
              </a:defRPr>
            </a:pPr>
            <a:r>
              <a:t>KEY ATTRIBUTES &amp; PROTOCOLS:</a:t>
            </a:r>
          </a:p>
          <a:p>
            <a:pPr>
              <a:spcBef>
                <a:spcPts val="400"/>
              </a:spcBef>
              <a:defRPr sz="1050">
                <a:solidFill>
                  <a:srgbClr val="E2E8F0"/>
                </a:solidFill>
              </a:defRPr>
            </a:pPr>
            <a:r>
              <a:t>•   Poppins: Primary Brand &amp; Digital Typeface across web &amp; marketing</a:t>
            </a:r>
          </a:p>
          <a:p>
            <a:pPr>
              <a:spcBef>
                <a:spcPts val="400"/>
              </a:spcBef>
              <a:defRPr sz="1050">
                <a:solidFill>
                  <a:srgbClr val="E2E8F0"/>
                </a:solidFill>
              </a:defRPr>
            </a:pPr>
            <a:r>
              <a:t>•   Calibri: Corporate, Formal &amp; Legal Correspondence standard</a:t>
            </a:r>
          </a:p>
          <a:p>
            <a:pPr>
              <a:spcBef>
                <a:spcPts val="400"/>
              </a:spcBef>
              <a:defRPr sz="1050">
                <a:solidFill>
                  <a:srgbClr val="E2E8F0"/>
                </a:solidFill>
              </a:defRPr>
            </a:pPr>
            <a:r>
              <a:t>•   Standardized font weights from Light (300) to Bold (700)</a:t>
            </a:r>
          </a:p>
          <a:p>
            <a:pPr>
              <a:spcBef>
                <a:spcPts val="400"/>
              </a:spcBef>
              <a:defRPr sz="1050">
                <a:solidFill>
                  <a:srgbClr val="E2E8F0"/>
                </a:solidFill>
              </a:defRPr>
            </a:pPr>
            <a:r>
              <a:t>•   Strict hierarchy rules for hero headlines, subheads, and body copy</a:t>
            </a:r>
          </a:p>
          <a:p>
            <a:pPr>
              <a:spcBef>
                <a:spcPts val="400"/>
              </a:spcBef>
              <a:defRPr sz="1050">
                <a:solidFill>
                  <a:srgbClr val="E2E8F0"/>
                </a:solidFill>
              </a:defRPr>
            </a:pPr>
            <a:r>
              <a:t>•   Guaranteed cross-platform compatibility across Windows, Mac, &amp; mobile</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Poppins Bold (700)</a:t>
            </a:r>
          </a:p>
          <a:p>
            <a:pPr>
              <a:spcBef>
                <a:spcPts val="400"/>
              </a:spcBef>
              <a:defRPr sz="950">
                <a:solidFill>
                  <a:srgbClr val="94A3B8"/>
                </a:solidFill>
              </a:defRPr>
            </a:pPr>
            <a:r>
              <a:t>High-impact headlines, hero display titles, and prominent billboard branding.</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Poppins SemiBold (600)</a:t>
            </a:r>
          </a:p>
          <a:p>
            <a:pPr>
              <a:spcBef>
                <a:spcPts val="400"/>
              </a:spcBef>
              <a:defRPr sz="950">
                <a:solidFill>
                  <a:srgbClr val="94A3B8"/>
                </a:solidFill>
              </a:defRPr>
            </a:pPr>
            <a:r>
              <a:t>Section headers, button text, navigation labels, and modal titles.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Poppins Regular (400)</a:t>
            </a:r>
          </a:p>
          <a:p>
            <a:pPr>
              <a:spcBef>
                <a:spcPts val="400"/>
              </a:spcBef>
              <a:defRPr sz="950">
                <a:solidFill>
                  <a:srgbClr val="94A3B8"/>
                </a:solidFill>
              </a:defRPr>
            </a:pPr>
            <a:r>
              <a:t>Digital body copy, feature bullet points, and web application descriptions.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Calibri Regular (11pt)</a:t>
            </a:r>
          </a:p>
          <a:p>
            <a:pPr>
              <a:spcBef>
                <a:spcPts val="400"/>
              </a:spcBef>
              <a:defRPr sz="950">
                <a:solidFill>
                  <a:srgbClr val="94A3B8"/>
                </a:solidFill>
              </a:defRPr>
            </a:pPr>
            <a:r>
              <a:t>Standard body text for formal business letters, notices, and agreements.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Calibri Bold</a:t>
            </a:r>
          </a:p>
          <a:p>
            <a:pPr>
              <a:spcBef>
                <a:spcPts val="400"/>
              </a:spcBef>
              <a:defRPr sz="950">
                <a:solidFill>
                  <a:srgbClr val="94A3B8"/>
                </a:solidFill>
              </a:defRPr>
            </a:pPr>
            <a:r>
              <a:t>Clause headers, signatory designations, and formal document sub-headings.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Web &amp; Print Packages</a:t>
            </a:r>
          </a:p>
          <a:p>
            <a:pPr>
              <a:spcBef>
                <a:spcPts val="400"/>
              </a:spcBef>
              <a:defRPr sz="950">
                <a:solidFill>
                  <a:srgbClr val="94A3B8"/>
                </a:solidFill>
              </a:defRPr>
            </a:pPr>
            <a:r>
              <a:t>1-Click download of approved font installation files for all workstations.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6 of 25  |  Transvolt Mobility Brand Management Portal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06 — BRAND PHILOSOPHY</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Brand Philosophy</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Understanding What Transvolt Represents</a:t>
            </a:r>
          </a:p>
          <a:p>
            <a:pPr>
              <a:spcBef>
                <a:spcPts val="800"/>
              </a:spcBef>
              <a:defRPr sz="1100">
                <a:solidFill>
                  <a:srgbClr val="94A3B8"/>
                </a:solidFill>
              </a:defRPr>
            </a:pPr>
            <a:r>
              <a:t>The purpose, vision, and symbolism powering clean mobility. Transvolt stands at the forefront of sustainable transit, pairing environmental stewardship with high-performance electrical engineering and smart charging infrastructure.</a:t>
            </a:r>
          </a:p>
          <a:p>
            <a:pPr>
              <a:spcBef>
                <a:spcPts val="1200"/>
              </a:spcBef>
              <a:defRPr sz="950" b="1">
                <a:solidFill>
                  <a:srgbClr val="22C55E"/>
                </a:solidFill>
              </a:defRPr>
            </a:pPr>
            <a:r>
              <a:t>KEY ATTRIBUTES &amp; PROTOCOLS:</a:t>
            </a:r>
          </a:p>
          <a:p>
            <a:pPr>
              <a:spcBef>
                <a:spcPts val="400"/>
              </a:spcBef>
              <a:defRPr sz="1050">
                <a:solidFill>
                  <a:srgbClr val="E2E8F0"/>
                </a:solidFill>
              </a:defRPr>
            </a:pPr>
            <a:r>
              <a:t>•   Zero tailpipe emissions accelerating clean city transit</a:t>
            </a:r>
          </a:p>
          <a:p>
            <a:pPr>
              <a:spcBef>
                <a:spcPts val="400"/>
              </a:spcBef>
              <a:defRPr sz="1050">
                <a:solidFill>
                  <a:srgbClr val="E2E8F0"/>
                </a:solidFill>
              </a:defRPr>
            </a:pPr>
            <a:r>
              <a:t>•   High-efficiency commercial electric bus and fleet operations</a:t>
            </a:r>
          </a:p>
          <a:p>
            <a:pPr>
              <a:spcBef>
                <a:spcPts val="400"/>
              </a:spcBef>
              <a:defRPr sz="1050">
                <a:solidFill>
                  <a:srgbClr val="E2E8F0"/>
                </a:solidFill>
              </a:defRPr>
            </a:pPr>
            <a:r>
              <a:t>•   Smart megawatt charging networks powered by renewable energy</a:t>
            </a:r>
          </a:p>
          <a:p>
            <a:pPr>
              <a:spcBef>
                <a:spcPts val="400"/>
              </a:spcBef>
              <a:defRPr sz="1050">
                <a:solidFill>
                  <a:srgbClr val="E2E8F0"/>
                </a:solidFill>
              </a:defRPr>
            </a:pPr>
            <a:r>
              <a:t>•   Green Arrow represents Sustainability, Nature &amp; Clean Ecology</a:t>
            </a:r>
          </a:p>
          <a:p>
            <a:pPr>
              <a:spcBef>
                <a:spcPts val="400"/>
              </a:spcBef>
              <a:defRPr sz="1050">
                <a:solidFill>
                  <a:srgbClr val="E2E8F0"/>
                </a:solidFill>
              </a:defRPr>
            </a:pPr>
            <a:r>
              <a:t>•   Blue Arrow represents Electric Velocity, Technology &amp; Speed</a:t>
            </a:r>
          </a:p>
          <a:p>
            <a:pPr>
              <a:spcBef>
                <a:spcPts val="400"/>
              </a:spcBef>
              <a:defRPr sz="1050">
                <a:solidFill>
                  <a:srgbClr val="E2E8F0"/>
                </a:solidFill>
              </a:defRPr>
            </a:pPr>
            <a:r>
              <a:t>•   Dual Chevron symbol embodies continuous forward progress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Zero-Emission Mobility</a:t>
            </a:r>
          </a:p>
          <a:p>
            <a:pPr>
              <a:spcBef>
                <a:spcPts val="400"/>
              </a:spcBef>
              <a:defRPr sz="950">
                <a:solidFill>
                  <a:srgbClr val="94A3B8"/>
                </a:solidFill>
              </a:defRPr>
            </a:pPr>
            <a:r>
              <a:t>Accelerating the national transition to zero-emission public transit.</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Continuous Progress</a:t>
            </a:r>
          </a:p>
          <a:p>
            <a:pPr>
              <a:spcBef>
                <a:spcPts val="400"/>
              </a:spcBef>
              <a:defRPr sz="950">
                <a:solidFill>
                  <a:srgbClr val="94A3B8"/>
                </a:solidFill>
              </a:defRPr>
            </a:pPr>
            <a:r>
              <a:t>Constant technological evolution, fleet intelligence, and operational efficiency.</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Future Energy Vision</a:t>
            </a:r>
          </a:p>
          <a:p>
            <a:pPr>
              <a:spcBef>
                <a:spcPts val="400"/>
              </a:spcBef>
              <a:defRPr sz="950">
                <a:solidFill>
                  <a:srgbClr val="94A3B8"/>
                </a:solidFill>
              </a:defRPr>
            </a:pPr>
            <a:r>
              <a:t>Integrating smart charging networks with renewable energy infrastructure.</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Green Arrow Symbol</a:t>
            </a:r>
          </a:p>
          <a:p>
            <a:pPr>
              <a:spcBef>
                <a:spcPts val="400"/>
              </a:spcBef>
              <a:defRPr sz="950">
                <a:solidFill>
                  <a:srgbClr val="94A3B8"/>
                </a:solidFill>
              </a:defRPr>
            </a:pPr>
            <a:r>
              <a:t>Nature, ecological preservation, carbon reduction, and clean green energy.</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Blue Arrow Symbol</a:t>
            </a:r>
          </a:p>
          <a:p>
            <a:pPr>
              <a:spcBef>
                <a:spcPts val="400"/>
              </a:spcBef>
              <a:defRPr sz="950">
                <a:solidFill>
                  <a:srgbClr val="94A3B8"/>
                </a:solidFill>
              </a:defRPr>
            </a:pPr>
            <a:r>
              <a:t>Electric power, engineering excellence, rapid acceleration, and momentum.</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National Commitment</a:t>
            </a:r>
          </a:p>
          <a:p>
            <a:pPr>
              <a:spcBef>
                <a:spcPts val="400"/>
              </a:spcBef>
              <a:defRPr sz="950">
                <a:solidFill>
                  <a:srgbClr val="94A3B8"/>
                </a:solidFill>
              </a:defRPr>
            </a:pPr>
            <a:r>
              <a:t>A trusted brand powering smart cities and municipal transportation networks.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7 of 25  |  Transvolt Mobility Brand Management Portal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07 — LETTERHEAD</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Multi-Firm Letterheads</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Solving Multi-Company Letterhead Management</a:t>
            </a:r>
          </a:p>
          <a:p>
            <a:pPr>
              <a:spcBef>
                <a:spcPts val="800"/>
              </a:spcBef>
              <a:defRPr sz="1100">
                <a:solidFill>
                  <a:srgbClr val="94A3B8"/>
                </a:solidFill>
              </a:defRPr>
            </a:pPr>
            <a:r>
              <a:t>Transvolt operates through multiple legal corporate entities, operating companies, and regional SPVs. The portal provides instant access to verified letterheads with accurate CIN, registered addresses, and GST details.</a:t>
            </a:r>
          </a:p>
          <a:p>
            <a:pPr>
              <a:spcBef>
                <a:spcPts val="1200"/>
              </a:spcBef>
              <a:defRPr sz="950" b="1">
                <a:solidFill>
                  <a:srgbClr val="22C55E"/>
                </a:solidFill>
              </a:defRPr>
            </a:pPr>
            <a:r>
              <a:t>KEY ATTRIBUTES &amp; PROTOCOLS:</a:t>
            </a:r>
          </a:p>
          <a:p>
            <a:pPr>
              <a:spcBef>
                <a:spcPts val="400"/>
              </a:spcBef>
              <a:defRPr sz="1050">
                <a:solidFill>
                  <a:srgbClr val="E2E8F0"/>
                </a:solidFill>
              </a:defRPr>
            </a:pPr>
            <a:r>
              <a:t>•   Dedicated official letterheads for each legal corporate entity</a:t>
            </a:r>
          </a:p>
          <a:p>
            <a:pPr>
              <a:spcBef>
                <a:spcPts val="400"/>
              </a:spcBef>
              <a:defRPr sz="1050">
                <a:solidFill>
                  <a:srgbClr val="E2E8F0"/>
                </a:solidFill>
              </a:defRPr>
            </a:pPr>
            <a:r>
              <a:t>•   Verified Corporate Identification Numbers (CIN) &amp; GSTINs</a:t>
            </a:r>
          </a:p>
          <a:p>
            <a:pPr>
              <a:spcBef>
                <a:spcPts val="400"/>
              </a:spcBef>
              <a:defRPr sz="1050">
                <a:solidFill>
                  <a:srgbClr val="E2E8F0"/>
                </a:solidFill>
              </a:defRPr>
            </a:pPr>
            <a:r>
              <a:t>•   Official registered office addresses updated and verified</a:t>
            </a:r>
          </a:p>
          <a:p>
            <a:pPr>
              <a:spcBef>
                <a:spcPts val="400"/>
              </a:spcBef>
              <a:defRPr sz="1050">
                <a:solidFill>
                  <a:srgbClr val="E2E8F0"/>
                </a:solidFill>
              </a:defRPr>
            </a:pPr>
            <a:r>
              <a:t>•   Standardized Word (.docx) documents and high-res image headers</a:t>
            </a:r>
          </a:p>
          <a:p>
            <a:pPr>
              <a:spcBef>
                <a:spcPts val="400"/>
              </a:spcBef>
              <a:defRPr sz="1050">
                <a:solidFill>
                  <a:srgbClr val="E2E8F0"/>
                </a:solidFill>
              </a:defRPr>
            </a:pPr>
            <a:r>
              <a:t>•   Prevents outdated address info on tenders, bank notices &amp; contracts</a:t>
            </a:r>
          </a:p>
          <a:p>
            <a:pPr>
              <a:spcBef>
                <a:spcPts val="400"/>
              </a:spcBef>
              <a:defRPr sz="1050">
                <a:solidFill>
                  <a:srgbClr val="E2E8F0"/>
                </a:solidFill>
              </a:defRPr>
            </a:pPr>
            <a:r>
              <a:t>•   Eliminates repeated requests to the Legal &amp; Secretarial team</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Transvolt Mobility Pvt Ltd</a:t>
            </a:r>
          </a:p>
          <a:p>
            <a:pPr>
              <a:spcBef>
                <a:spcPts val="400"/>
              </a:spcBef>
              <a:defRPr sz="950">
                <a:solidFill>
                  <a:srgbClr val="94A3B8"/>
                </a:solidFill>
              </a:defRPr>
            </a:pPr>
            <a:r>
              <a:t>Master parent company stationery with verified CIN &amp; registered address.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Regional SPVs &amp; Entities</a:t>
            </a:r>
          </a:p>
          <a:p>
            <a:pPr>
              <a:spcBef>
                <a:spcPts val="400"/>
              </a:spcBef>
              <a:defRPr sz="950">
                <a:solidFill>
                  <a:srgbClr val="94A3B8"/>
                </a:solidFill>
              </a:defRPr>
            </a:pPr>
            <a:r>
              <a:t>Separate stationery packs for state-specific operating project companies.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Verified Legal Details</a:t>
            </a:r>
          </a:p>
          <a:p>
            <a:pPr>
              <a:spcBef>
                <a:spcPts val="400"/>
              </a:spcBef>
              <a:defRPr sz="950">
                <a:solidFill>
                  <a:srgbClr val="94A3B8"/>
                </a:solidFill>
              </a:defRPr>
            </a:pPr>
            <a:r>
              <a:t>Registered office, corporate CIN, email, website, and GST credentials.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Header &amp; Footer JPGs</a:t>
            </a:r>
          </a:p>
          <a:p>
            <a:pPr>
              <a:spcBef>
                <a:spcPts val="400"/>
              </a:spcBef>
              <a:defRPr sz="950">
                <a:solidFill>
                  <a:srgbClr val="94A3B8"/>
                </a:solidFill>
              </a:defRPr>
            </a:pPr>
            <a:r>
              <a:t>Crisp high-resolution images ready for digital insertion into letters.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Editable Word Templates</a:t>
            </a:r>
          </a:p>
          <a:p>
            <a:pPr>
              <a:spcBef>
                <a:spcPts val="400"/>
              </a:spcBef>
              <a:defRPr sz="950">
                <a:solidFill>
                  <a:srgbClr val="94A3B8"/>
                </a:solidFill>
              </a:defRPr>
            </a:pPr>
            <a:r>
              <a:t>Pre-configured .docx files with official margins, headers, and Calibri font.</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Print-Ready PDF Packs</a:t>
            </a:r>
          </a:p>
          <a:p>
            <a:pPr>
              <a:spcBef>
                <a:spcPts val="400"/>
              </a:spcBef>
              <a:defRPr sz="950">
                <a:solidFill>
                  <a:srgbClr val="94A3B8"/>
                </a:solidFill>
              </a:defRPr>
            </a:pPr>
            <a:r>
              <a:t>Vector stationery layouts ready for commercial depot stationery printing.</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8 of 25  |  Transvolt Mobility Brand Management Portal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08 — ID &amp; BUSINESS CARDS</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ID &amp; Business Cards</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Employee Records + Automated Identity Generation</a:t>
            </a:r>
          </a:p>
          <a:p>
            <a:pPr>
              <a:spcBef>
                <a:spcPts val="800"/>
              </a:spcBef>
              <a:defRPr sz="1100">
                <a:solidFill>
                  <a:srgbClr val="94A3B8"/>
                </a:solidFill>
              </a:defRPr>
            </a:pPr>
            <a:r>
              <a:t>Maintains full employee records site-by-site across regional depots and Head Office. Eliminates manual graphic design work by generating approved ID Cards and Business Cards directly from verified portal data.</a:t>
            </a:r>
          </a:p>
          <a:p>
            <a:pPr>
              <a:spcBef>
                <a:spcPts val="1200"/>
              </a:spcBef>
              <a:defRPr sz="950" b="1">
                <a:solidFill>
                  <a:srgbClr val="22C55E"/>
                </a:solidFill>
              </a:defRPr>
            </a:pPr>
            <a:r>
              <a:t>KEY ATTRIBUTES &amp; PROTOCOLS:</a:t>
            </a:r>
          </a:p>
          <a:p>
            <a:pPr>
              <a:spcBef>
                <a:spcPts val="400"/>
              </a:spcBef>
              <a:defRPr sz="1050">
                <a:solidFill>
                  <a:srgbClr val="E2E8F0"/>
                </a:solidFill>
              </a:defRPr>
            </a:pPr>
            <a:r>
              <a:t>•   Site-wise employee rosters with designation &amp; employee IDs</a:t>
            </a:r>
          </a:p>
          <a:p>
            <a:pPr>
              <a:spcBef>
                <a:spcPts val="400"/>
              </a:spcBef>
              <a:defRPr sz="1050">
                <a:solidFill>
                  <a:srgbClr val="E2E8F0"/>
                </a:solidFill>
              </a:defRPr>
            </a:pPr>
            <a:r>
              <a:t>•   Front &amp; back automated ID card generator with official barcodes</a:t>
            </a:r>
          </a:p>
          <a:p>
            <a:pPr>
              <a:spcBef>
                <a:spcPts val="400"/>
              </a:spcBef>
              <a:defRPr sz="1050">
                <a:solidFill>
                  <a:srgbClr val="E2E8F0"/>
                </a:solidFill>
              </a:defRPr>
            </a:pPr>
            <a:r>
              <a:t>•   High-resolution Business Cards with QR contact codes</a:t>
            </a:r>
          </a:p>
          <a:p>
            <a:pPr>
              <a:spcBef>
                <a:spcPts val="400"/>
              </a:spcBef>
              <a:defRPr sz="1050">
                <a:solidFill>
                  <a:srgbClr val="E2E8F0"/>
                </a:solidFill>
              </a:defRPr>
            </a:pPr>
            <a:r>
              <a:t>•   Emergency blood group and depot contact integration</a:t>
            </a:r>
          </a:p>
          <a:p>
            <a:pPr>
              <a:spcBef>
                <a:spcPts val="400"/>
              </a:spcBef>
              <a:defRPr sz="1050">
                <a:solidFill>
                  <a:srgbClr val="E2E8F0"/>
                </a:solidFill>
              </a:defRPr>
            </a:pPr>
            <a:r>
              <a:t>•   Direct print-ready PDF export calibrated for card printers</a:t>
            </a:r>
          </a:p>
          <a:p>
            <a:pPr>
              <a:spcBef>
                <a:spcPts val="400"/>
              </a:spcBef>
              <a:defRPr sz="1050">
                <a:solidFill>
                  <a:srgbClr val="E2E8F0"/>
                </a:solidFill>
              </a:defRPr>
            </a:pPr>
            <a:r>
              <a:t>•   Controlled 6-hour printer sharing links for regional vendors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Site Employee Directory</a:t>
            </a:r>
          </a:p>
          <a:p>
            <a:pPr>
              <a:spcBef>
                <a:spcPts val="400"/>
              </a:spcBef>
              <a:defRPr sz="950">
                <a:solidFill>
                  <a:srgbClr val="94A3B8"/>
                </a:solidFill>
              </a:defRPr>
            </a:pPr>
            <a:r>
              <a:t>Organized by Mumbai Depot, Pune, Delhi NCR, Ahmedabad, and Head Office.</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Instant ID Generator</a:t>
            </a:r>
          </a:p>
          <a:p>
            <a:pPr>
              <a:spcBef>
                <a:spcPts val="400"/>
              </a:spcBef>
              <a:defRPr sz="950">
                <a:solidFill>
                  <a:srgbClr val="94A3B8"/>
                </a:solidFill>
              </a:defRPr>
            </a:pPr>
            <a:r>
              <a:t>One-click generation of official Front and Back PVC ID card layouts.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Executive Business Cards</a:t>
            </a:r>
          </a:p>
          <a:p>
            <a:pPr>
              <a:spcBef>
                <a:spcPts val="400"/>
              </a:spcBef>
              <a:defRPr sz="950">
                <a:solidFill>
                  <a:srgbClr val="94A3B8"/>
                </a:solidFill>
              </a:defRPr>
            </a:pPr>
            <a:r>
              <a:t>Professional business cards with dynamic QR codes for vCard contact sharing.</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Barcode &amp; Security Codes</a:t>
            </a:r>
          </a:p>
          <a:p>
            <a:pPr>
              <a:spcBef>
                <a:spcPts val="400"/>
              </a:spcBef>
              <a:defRPr sz="950">
                <a:solidFill>
                  <a:srgbClr val="94A3B8"/>
                </a:solidFill>
              </a:defRPr>
            </a:pPr>
            <a:r>
              <a:t>Standardized employee code encoding compatible with depot turnstiles.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Print-Ready PDF Output</a:t>
            </a:r>
          </a:p>
          <a:p>
            <a:pPr>
              <a:spcBef>
                <a:spcPts val="400"/>
              </a:spcBef>
              <a:defRPr sz="950">
                <a:solidFill>
                  <a:srgbClr val="94A3B8"/>
                </a:solidFill>
              </a:defRPr>
            </a:pPr>
            <a:r>
              <a:t>Standard 85.6mm x 54mm card proportions with 3mm bleed margins.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Vendor Print Sharing</a:t>
            </a:r>
          </a:p>
          <a:p>
            <a:pPr>
              <a:spcBef>
                <a:spcPts val="400"/>
              </a:spcBef>
              <a:defRPr sz="950">
                <a:solidFill>
                  <a:srgbClr val="94A3B8"/>
                </a:solidFill>
              </a:defRPr>
            </a:pPr>
            <a:r>
              <a:t>Send high-res files directly to ID card printers via secure timed links.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9 of 25  |  Transvolt Mobility Brand Management Portal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09 — PRESENTATION</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Presentation Deck System</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Ready-to-Use Corporate Presentation System</a:t>
            </a:r>
          </a:p>
          <a:p>
            <a:pPr>
              <a:spcBef>
                <a:spcPts val="800"/>
              </a:spcBef>
              <a:defRPr sz="1100">
                <a:solidFill>
                  <a:srgbClr val="94A3B8"/>
                </a:solidFill>
              </a:defRPr>
            </a:pPr>
            <a:r>
              <a:t>Standardized 16:9 master PowerPoint templates and slide layouts built for widescreen displays, board presentations, investor meetings, client pitches, and operational briefings.</a:t>
            </a:r>
          </a:p>
          <a:p>
            <a:pPr>
              <a:spcBef>
                <a:spcPts val="1200"/>
              </a:spcBef>
              <a:defRPr sz="950" b="1">
                <a:solidFill>
                  <a:srgbClr val="22C55E"/>
                </a:solidFill>
              </a:defRPr>
            </a:pPr>
            <a:r>
              <a:t>KEY ATTRIBUTES &amp; PROTOCOLS:</a:t>
            </a:r>
          </a:p>
          <a:p>
            <a:pPr>
              <a:spcBef>
                <a:spcPts val="400"/>
              </a:spcBef>
              <a:defRPr sz="1050">
                <a:solidFill>
                  <a:srgbClr val="E2E8F0"/>
                </a:solidFill>
              </a:defRPr>
            </a:pPr>
            <a:r>
              <a:t>•   Modern 16:9 widescreen layout standard optimized for laptop screens</a:t>
            </a:r>
          </a:p>
          <a:p>
            <a:pPr>
              <a:spcBef>
                <a:spcPts val="400"/>
              </a:spcBef>
              <a:defRPr sz="1050">
                <a:solidFill>
                  <a:srgbClr val="E2E8F0"/>
                </a:solidFill>
              </a:defRPr>
            </a:pPr>
            <a:r>
              <a:t>•   Pre-formatted master slide layouts, title dividers, and agenda decks</a:t>
            </a:r>
          </a:p>
          <a:p>
            <a:pPr>
              <a:spcBef>
                <a:spcPts val="400"/>
              </a:spcBef>
              <a:defRPr sz="1050">
                <a:solidFill>
                  <a:srgbClr val="E2E8F0"/>
                </a:solidFill>
              </a:defRPr>
            </a:pPr>
            <a:r>
              <a:t>•   Pre-configured Poppins font styles and high-contrast color palettes</a:t>
            </a:r>
          </a:p>
          <a:p>
            <a:pPr>
              <a:spcBef>
                <a:spcPts val="400"/>
              </a:spcBef>
              <a:defRPr sz="1050">
                <a:solidFill>
                  <a:srgbClr val="E2E8F0"/>
                </a:solidFill>
              </a:defRPr>
            </a:pPr>
            <a:r>
              <a:t>•   Standardized charts, milestone timelines, metrics, and team rosters</a:t>
            </a:r>
          </a:p>
          <a:p>
            <a:pPr>
              <a:spcBef>
                <a:spcPts val="400"/>
              </a:spcBef>
              <a:defRPr sz="1050">
                <a:solidFill>
                  <a:srgbClr val="E2E8F0"/>
                </a:solidFill>
              </a:defRPr>
            </a:pPr>
            <a:r>
              <a:t>•   Instant download in native editable PowerPoint (.pptx) format</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16:9 Master Template</a:t>
            </a:r>
          </a:p>
          <a:p>
            <a:pPr>
              <a:spcBef>
                <a:spcPts val="400"/>
              </a:spcBef>
              <a:defRPr sz="950">
                <a:solidFill>
                  <a:srgbClr val="94A3B8"/>
                </a:solidFill>
              </a:defRPr>
            </a:pPr>
            <a:r>
              <a:t>Widescreen proportions calibrated for modern monitors and projectors.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Milestone Roadmaps</a:t>
            </a:r>
          </a:p>
          <a:p>
            <a:pPr>
              <a:spcBef>
                <a:spcPts val="400"/>
              </a:spcBef>
              <a:defRPr sz="950">
                <a:solidFill>
                  <a:srgbClr val="94A3B8"/>
                </a:solidFill>
              </a:defRPr>
            </a:pPr>
            <a:r>
              <a:t>Pre-designed timeline slides to showcase project rollouts and phases.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KPI &amp; Metrics Grids</a:t>
            </a:r>
          </a:p>
          <a:p>
            <a:pPr>
              <a:spcBef>
                <a:spcPts val="400"/>
              </a:spcBef>
              <a:defRPr sz="950">
                <a:solidFill>
                  <a:srgbClr val="94A3B8"/>
                </a:solidFill>
              </a:defRPr>
            </a:pPr>
            <a:r>
              <a:t>Data presentation cards to highlight fleet mileage, uptime, and energy stats.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Team &amp; Leadership Slides</a:t>
            </a:r>
          </a:p>
          <a:p>
            <a:pPr>
              <a:spcBef>
                <a:spcPts val="400"/>
              </a:spcBef>
              <a:defRPr sz="950">
                <a:solidFill>
                  <a:srgbClr val="94A3B8"/>
                </a:solidFill>
              </a:defRPr>
            </a:pPr>
            <a:r>
              <a:t>Consistent team roster layouts with designation tags and photo slots.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Pre-Configured Typography</a:t>
            </a:r>
          </a:p>
          <a:p>
            <a:pPr>
              <a:spcBef>
                <a:spcPts val="400"/>
              </a:spcBef>
              <a:defRPr sz="950">
                <a:solidFill>
                  <a:srgbClr val="94A3B8"/>
                </a:solidFill>
              </a:defRPr>
            </a:pPr>
            <a:r>
              <a:t>Built-in Poppins headings and clean contrast palettes in master styles.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1-Click PPTX Export</a:t>
            </a:r>
          </a:p>
          <a:p>
            <a:pPr>
              <a:spcBef>
                <a:spcPts val="400"/>
              </a:spcBef>
              <a:defRPr sz="950">
                <a:solidFill>
                  <a:srgbClr val="94A3B8"/>
                </a:solidFill>
              </a:defRPr>
            </a:pPr>
            <a:r>
              <a:t>Download the complete official template to assemble executive presentations.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10 of 25  |  Transvolt Mobility Brand Management Portal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10 — DIGITAL ASSETS</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Digital Assets Vault</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Approved Digital Communication</a:t>
            </a:r>
          </a:p>
          <a:p>
            <a:pPr>
              <a:spcBef>
                <a:spcPts val="800"/>
              </a:spcBef>
              <a:defRPr sz="1100">
                <a:solidFill>
                  <a:srgbClr val="94A3B8"/>
                </a:solidFill>
              </a:defRPr>
            </a:pPr>
            <a:r>
              <a:t>Fast access to verified digital marketing materials across all social, web, and internal communications. Ensures marketing teams and creative agencies use only current campaigns and approved branding.</a:t>
            </a:r>
          </a:p>
          <a:p>
            <a:pPr>
              <a:spcBef>
                <a:spcPts val="1200"/>
              </a:spcBef>
              <a:defRPr sz="950" b="1">
                <a:solidFill>
                  <a:srgbClr val="22C55E"/>
                </a:solidFill>
              </a:defRPr>
            </a:pPr>
            <a:r>
              <a:t>KEY ATTRIBUTES &amp; PROTOCOLS:</a:t>
            </a:r>
          </a:p>
          <a:p>
            <a:pPr>
              <a:spcBef>
                <a:spcPts val="400"/>
              </a:spcBef>
              <a:defRPr sz="1050">
                <a:solidFill>
                  <a:srgbClr val="E2E8F0"/>
                </a:solidFill>
              </a:defRPr>
            </a:pPr>
            <a:r>
              <a:t>•   Social media campaign creatives (LinkedIn, X, Instagram, Facebook)</a:t>
            </a:r>
          </a:p>
          <a:p>
            <a:pPr>
              <a:spcBef>
                <a:spcPts val="400"/>
              </a:spcBef>
              <a:defRPr sz="1050">
                <a:solidFill>
                  <a:srgbClr val="E2E8F0"/>
                </a:solidFill>
              </a:defRPr>
            </a:pPr>
            <a:r>
              <a:t>•   Official corporate emailer banners, footers, and HTML templates</a:t>
            </a:r>
          </a:p>
          <a:p>
            <a:pPr>
              <a:spcBef>
                <a:spcPts val="400"/>
              </a:spcBef>
              <a:defRPr sz="1050">
                <a:solidFill>
                  <a:srgbClr val="E2E8F0"/>
                </a:solidFill>
              </a:defRPr>
            </a:pPr>
            <a:r>
              <a:t>•   High-resolution web and mobile app interface graphics</a:t>
            </a:r>
          </a:p>
          <a:p>
            <a:pPr>
              <a:spcBef>
                <a:spcPts val="400"/>
              </a:spcBef>
              <a:defRPr sz="1050">
                <a:solidFill>
                  <a:srgbClr val="E2E8F0"/>
                </a:solidFill>
              </a:defRPr>
            </a:pPr>
            <a:r>
              <a:t>•   Event announcement banners, webinars, and digital posters</a:t>
            </a:r>
          </a:p>
          <a:p>
            <a:pPr>
              <a:spcBef>
                <a:spcPts val="400"/>
              </a:spcBef>
              <a:defRPr sz="1050">
                <a:solidFill>
                  <a:srgbClr val="E2E8F0"/>
                </a:solidFill>
              </a:defRPr>
            </a:pPr>
            <a:r>
              <a:t>•   Recruitment, employee spotlight, and employer branding collateral</a:t>
            </a:r>
          </a:p>
          <a:p>
            <a:pPr>
              <a:spcBef>
                <a:spcPts val="400"/>
              </a:spcBef>
              <a:defRPr sz="1050">
                <a:solidFill>
                  <a:srgbClr val="E2E8F0"/>
                </a:solidFill>
              </a:defRPr>
            </a:pPr>
            <a:r>
              <a:t>•   Instant export in optimized web formats (PNG, JPG, WebP)</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Social Media Posts</a:t>
            </a:r>
          </a:p>
          <a:p>
            <a:pPr>
              <a:spcBef>
                <a:spcPts val="400"/>
              </a:spcBef>
              <a:defRPr sz="950">
                <a:solidFill>
                  <a:srgbClr val="94A3B8"/>
                </a:solidFill>
              </a:defRPr>
            </a:pPr>
            <a:r>
              <a:t>Square (1:1), portrait (4:5), and banner formats for all digital networks.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Corporate Emailers</a:t>
            </a:r>
          </a:p>
          <a:p>
            <a:pPr>
              <a:spcBef>
                <a:spcPts val="400"/>
              </a:spcBef>
              <a:defRPr sz="950">
                <a:solidFill>
                  <a:srgbClr val="94A3B8"/>
                </a:solidFill>
              </a:defRPr>
            </a:pPr>
            <a:r>
              <a:t>Approved email banners, announcement headers, and newsletter headers.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Web &amp; App Graphics</a:t>
            </a:r>
          </a:p>
          <a:p>
            <a:pPr>
              <a:spcBef>
                <a:spcPts val="400"/>
              </a:spcBef>
              <a:defRPr sz="950">
                <a:solidFill>
                  <a:srgbClr val="94A3B8"/>
                </a:solidFill>
              </a:defRPr>
            </a:pPr>
            <a:r>
              <a:t>Lossless banners, icons, and hero illustrations for digital platforms.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Event &amp; Webinar Assets</a:t>
            </a:r>
          </a:p>
          <a:p>
            <a:pPr>
              <a:spcBef>
                <a:spcPts val="400"/>
              </a:spcBef>
              <a:defRPr sz="950">
                <a:solidFill>
                  <a:srgbClr val="94A3B8"/>
                </a:solidFill>
              </a:defRPr>
            </a:pPr>
            <a:r>
              <a:t>Clean digital passes, speaker announcement cards, and backdrop banners.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Recruitment Campaigns</a:t>
            </a:r>
          </a:p>
          <a:p>
            <a:pPr>
              <a:spcBef>
                <a:spcPts val="400"/>
              </a:spcBef>
              <a:defRPr sz="950">
                <a:solidFill>
                  <a:srgbClr val="94A3B8"/>
                </a:solidFill>
              </a:defRPr>
            </a:pPr>
            <a:r>
              <a:t>Standardized hiring banners with official Transvolt job identity.</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Digital PR Kits</a:t>
            </a:r>
          </a:p>
          <a:p>
            <a:pPr>
              <a:spcBef>
                <a:spcPts val="400"/>
              </a:spcBef>
              <a:defRPr sz="950">
                <a:solidFill>
                  <a:srgbClr val="94A3B8"/>
                </a:solidFill>
              </a:defRPr>
            </a:pPr>
            <a:r>
              <a:t>Approved press-release banners, executive photos, and brand summaries.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11 of 25  |  Transvolt Mobility Brand Management Portal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11 — PRINT ASSETS</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Print-Ready Collateral</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Production-Ready Brand Materials</a:t>
            </a:r>
          </a:p>
          <a:p>
            <a:pPr>
              <a:spcBef>
                <a:spcPts val="800"/>
              </a:spcBef>
              <a:defRPr sz="1100">
                <a:solidFill>
                  <a:srgbClr val="94A3B8"/>
                </a:solidFill>
              </a:defRPr>
            </a:pPr>
            <a:r>
              <a:t>High-resolution CMYK print files designed to prevent press rework, incorrect color rendering, and expensive reprints across regional depots, trade exhibitions, and corporate offices.</a:t>
            </a:r>
          </a:p>
          <a:p>
            <a:pPr>
              <a:spcBef>
                <a:spcPts val="1200"/>
              </a:spcBef>
              <a:defRPr sz="950" b="1">
                <a:solidFill>
                  <a:srgbClr val="22C55E"/>
                </a:solidFill>
              </a:defRPr>
            </a:pPr>
            <a:r>
              <a:t>KEY ATTRIBUTES &amp; PROTOCOLS:</a:t>
            </a:r>
          </a:p>
          <a:p>
            <a:pPr>
              <a:spcBef>
                <a:spcPts val="400"/>
              </a:spcBef>
              <a:defRPr sz="1050">
                <a:solidFill>
                  <a:srgbClr val="E2E8F0"/>
                </a:solidFill>
              </a:defRPr>
            </a:pPr>
            <a:r>
              <a:t>•   Official corporate brochures, booklets, and capability portfolios</a:t>
            </a:r>
          </a:p>
          <a:p>
            <a:pPr>
              <a:spcBef>
                <a:spcPts val="400"/>
              </a:spcBef>
              <a:defRPr sz="1050">
                <a:solidFill>
                  <a:srgbClr val="E2E8F0"/>
                </a:solidFill>
              </a:defRPr>
            </a:pPr>
            <a:r>
              <a:t>•   Depot safety posters, electrical hazard charts, and site signage</a:t>
            </a:r>
          </a:p>
          <a:p>
            <a:pPr>
              <a:spcBef>
                <a:spcPts val="400"/>
              </a:spcBef>
              <a:defRPr sz="1050">
                <a:solidFill>
                  <a:srgbClr val="E2E8F0"/>
                </a:solidFill>
              </a:defRPr>
            </a:pPr>
            <a:r>
              <a:t>•   Exhibition standees, conference backdrops, and trade show banners</a:t>
            </a:r>
          </a:p>
          <a:p>
            <a:pPr>
              <a:spcBef>
                <a:spcPts val="400"/>
              </a:spcBef>
              <a:defRPr sz="1050">
                <a:solidFill>
                  <a:srgbClr val="E2E8F0"/>
                </a:solidFill>
              </a:defRPr>
            </a:pPr>
            <a:r>
              <a:t>•   High-resolution vector artwork with 3mm bleed lines and crop marks</a:t>
            </a:r>
          </a:p>
          <a:p>
            <a:pPr>
              <a:spcBef>
                <a:spcPts val="400"/>
              </a:spcBef>
              <a:defRPr sz="1050">
                <a:solidFill>
                  <a:srgbClr val="E2E8F0"/>
                </a:solidFill>
              </a:defRPr>
            </a:pPr>
            <a:r>
              <a:t>•   Zero costly reprints due to incorrect file formats or wrong colors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Brochures &amp; Booklets</a:t>
            </a:r>
          </a:p>
          <a:p>
            <a:pPr>
              <a:spcBef>
                <a:spcPts val="400"/>
              </a:spcBef>
              <a:defRPr sz="950">
                <a:solidFill>
                  <a:srgbClr val="94A3B8"/>
                </a:solidFill>
              </a:defRPr>
            </a:pPr>
            <a:r>
              <a:t>Multi-page corporate profiles with high-res images and spot varnish layers.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Depot Safety Posters</a:t>
            </a:r>
          </a:p>
          <a:p>
            <a:pPr>
              <a:spcBef>
                <a:spcPts val="400"/>
              </a:spcBef>
              <a:defRPr sz="950">
                <a:solidFill>
                  <a:srgbClr val="94A3B8"/>
                </a:solidFill>
              </a:defRPr>
            </a:pPr>
            <a:r>
              <a:t>OSHA &amp; state regulatory electrical safety charts for EV maintenance depots.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Standees &amp; Banners</a:t>
            </a:r>
          </a:p>
          <a:p>
            <a:pPr>
              <a:spcBef>
                <a:spcPts val="400"/>
              </a:spcBef>
              <a:defRPr sz="950">
                <a:solidFill>
                  <a:srgbClr val="94A3B8"/>
                </a:solidFill>
              </a:defRPr>
            </a:pPr>
            <a:r>
              <a:t>Standard 6x3 ft and 8x4 ft roll-up standees ready for immediate production.</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Corporate Stationery</a:t>
            </a:r>
          </a:p>
          <a:p>
            <a:pPr>
              <a:spcBef>
                <a:spcPts val="400"/>
              </a:spcBef>
              <a:defRPr sz="950">
                <a:solidFill>
                  <a:srgbClr val="94A3B8"/>
                </a:solidFill>
              </a:defRPr>
            </a:pPr>
            <a:r>
              <a:t>Standardized business envelopes, folders, notepads, and visitor lanyards.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Wayfinding &amp; Signage</a:t>
            </a:r>
          </a:p>
          <a:p>
            <a:pPr>
              <a:spcBef>
                <a:spcPts val="400"/>
              </a:spcBef>
              <a:defRPr sz="950">
                <a:solidFill>
                  <a:srgbClr val="94A3B8"/>
                </a:solidFill>
              </a:defRPr>
            </a:pPr>
            <a:r>
              <a:t>Exterior depot entrance boards, bay markers, and parking indicators.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CMYK Vector Packs</a:t>
            </a:r>
          </a:p>
          <a:p>
            <a:pPr>
              <a:spcBef>
                <a:spcPts val="400"/>
              </a:spcBef>
              <a:defRPr sz="950">
                <a:solidFill>
                  <a:srgbClr val="94A3B8"/>
                </a:solidFill>
              </a:defRPr>
            </a:pPr>
            <a:r>
              <a:t>100% press-ready vector PDFs with outlined fonts and color separation.</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12 of 25  |  Transvolt Mobility Brand Management Portal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12 — GRAPHICS LIBRARY</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Graphics &amp; Creative Library</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A Central Home for Supporting Graphics</a:t>
            </a:r>
          </a:p>
          <a:p>
            <a:pPr>
              <a:spcBef>
                <a:spcPts val="800"/>
              </a:spcBef>
              <a:defRPr sz="1100">
                <a:solidFill>
                  <a:srgbClr val="94A3B8"/>
                </a:solidFill>
              </a:defRPr>
            </a:pPr>
            <a:r>
              <a:t>Flexible asset repository for reusable festive greetings, HR creatives, event passes, and special occasion graphics organized by category and accessible to all approved staff.</a:t>
            </a:r>
          </a:p>
          <a:p>
            <a:pPr>
              <a:spcBef>
                <a:spcPts val="1200"/>
              </a:spcBef>
              <a:defRPr sz="950" b="1">
                <a:solidFill>
                  <a:srgbClr val="22C55E"/>
                </a:solidFill>
              </a:defRPr>
            </a:pPr>
            <a:r>
              <a:t>KEY ATTRIBUTES &amp; PROTOCOLS:</a:t>
            </a:r>
          </a:p>
          <a:p>
            <a:pPr>
              <a:spcBef>
                <a:spcPts val="400"/>
              </a:spcBef>
              <a:defRPr sz="1050">
                <a:solidFill>
                  <a:srgbClr val="E2E8F0"/>
                </a:solidFill>
              </a:defRPr>
            </a:pPr>
            <a:r>
              <a:t>•   Festival greetings (Diwali, Eid, Christmas, Independence Day)</a:t>
            </a:r>
          </a:p>
          <a:p>
            <a:pPr>
              <a:spcBef>
                <a:spcPts val="400"/>
              </a:spcBef>
              <a:defRPr sz="1050">
                <a:solidFill>
                  <a:srgbClr val="E2E8F0"/>
                </a:solidFill>
              </a:defRPr>
            </a:pPr>
            <a:r>
              <a:t>•   Official corporate event passes and visitor badge templates</a:t>
            </a:r>
          </a:p>
          <a:p>
            <a:pPr>
              <a:spcBef>
                <a:spcPts val="400"/>
              </a:spcBef>
              <a:defRPr sz="1050">
                <a:solidFill>
                  <a:srgbClr val="E2E8F0"/>
                </a:solidFill>
              </a:defRPr>
            </a:pPr>
            <a:r>
              <a:t>•   Formal company invitations and stakeholder announcements</a:t>
            </a:r>
          </a:p>
          <a:p>
            <a:pPr>
              <a:spcBef>
                <a:spcPts val="400"/>
              </a:spcBef>
              <a:defRPr sz="1050">
                <a:solidFill>
                  <a:srgbClr val="E2E8F0"/>
                </a:solidFill>
              </a:defRPr>
            </a:pPr>
            <a:r>
              <a:t>•   Employee recognition certificates and milestone celebration graphics</a:t>
            </a:r>
          </a:p>
          <a:p>
            <a:pPr>
              <a:spcBef>
                <a:spcPts val="400"/>
              </a:spcBef>
              <a:defRPr sz="1050">
                <a:solidFill>
                  <a:srgbClr val="E2E8F0"/>
                </a:solidFill>
              </a:defRPr>
            </a:pPr>
            <a:r>
              <a:t>•   Multi-format uploads (PNG, SVG, JPG, CDR, print PDF)</a:t>
            </a:r>
          </a:p>
          <a:p>
            <a:pPr>
              <a:spcBef>
                <a:spcPts val="400"/>
              </a:spcBef>
              <a:defRPr sz="1050">
                <a:solidFill>
                  <a:srgbClr val="E2E8F0"/>
                </a:solidFill>
              </a:defRPr>
            </a:pPr>
            <a:r>
              <a:t>•   1-Click Replace, Delete, and On Hold controls for Super Admins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Festival Greetings</a:t>
            </a:r>
          </a:p>
          <a:p>
            <a:pPr>
              <a:spcBef>
                <a:spcPts val="400"/>
              </a:spcBef>
              <a:defRPr sz="950">
                <a:solidFill>
                  <a:srgbClr val="94A3B8"/>
                </a:solidFill>
              </a:defRPr>
            </a:pPr>
            <a:r>
              <a:t>Approved holiday creative templates ready for immediate team sharing.</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Event Passes &amp; Invites</a:t>
            </a:r>
          </a:p>
          <a:p>
            <a:pPr>
              <a:spcBef>
                <a:spcPts val="400"/>
              </a:spcBef>
              <a:defRPr sz="950">
                <a:solidFill>
                  <a:srgbClr val="94A3B8"/>
                </a:solidFill>
              </a:defRPr>
            </a:pPr>
            <a:r>
              <a:t>VIP launch invitations, depot inauguration passes, and conference badges.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HR &amp; Employee Awards</a:t>
            </a:r>
          </a:p>
          <a:p>
            <a:pPr>
              <a:spcBef>
                <a:spcPts val="400"/>
              </a:spcBef>
              <a:defRPr sz="950">
                <a:solidFill>
                  <a:srgbClr val="94A3B8"/>
                </a:solidFill>
              </a:defRPr>
            </a:pPr>
            <a:r>
              <a:t>Star of the Month, annual awards, and training completion certificates.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Multi-Format Vault</a:t>
            </a:r>
          </a:p>
          <a:p>
            <a:pPr>
              <a:spcBef>
                <a:spcPts val="400"/>
              </a:spcBef>
              <a:defRPr sz="950">
                <a:solidFill>
                  <a:srgbClr val="94A3B8"/>
                </a:solidFill>
              </a:defRPr>
            </a:pPr>
            <a:r>
              <a:t>Store and retrieve CDR, PDF, SVG, and high-res PNG from one interface.</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Attribution Tracking</a:t>
            </a:r>
          </a:p>
          <a:p>
            <a:pPr>
              <a:spcBef>
                <a:spcPts val="400"/>
              </a:spcBef>
              <a:defRPr sz="950">
                <a:solidFill>
                  <a:srgbClr val="94A3B8"/>
                </a:solidFill>
              </a:defRPr>
            </a:pPr>
            <a:r>
              <a:t>Clear timestamps and uploader history for internal accountability.</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Admin Lifecycle Controls</a:t>
            </a:r>
          </a:p>
          <a:p>
            <a:pPr>
              <a:spcBef>
                <a:spcPts val="400"/>
              </a:spcBef>
              <a:defRPr sz="950">
                <a:solidFill>
                  <a:srgbClr val="94A3B8"/>
                </a:solidFill>
              </a:defRPr>
            </a:pPr>
            <a:r>
              <a:t>Archive, replace, or hold graphics to prevent outdated circulation.</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13 of 25  |  Transvolt Mobility Brand Management Portal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13 — PHOTO REPOSITORY</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Photo Repository</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Transvolt's Visual Archive</a:t>
            </a:r>
          </a:p>
          <a:p>
            <a:pPr>
              <a:spcBef>
                <a:spcPts val="800"/>
              </a:spcBef>
              <a:defRPr sz="1100">
                <a:solidFill>
                  <a:srgbClr val="94A3B8"/>
                </a:solidFill>
              </a:defRPr>
            </a:pPr>
            <a:r>
              <a:t>Curated, high-resolution media gallery organized by operational milestones, site deployments, fleet rollouts, and employee achievements across all regional operations.</a:t>
            </a:r>
          </a:p>
          <a:p>
            <a:pPr>
              <a:spcBef>
                <a:spcPts val="1200"/>
              </a:spcBef>
              <a:defRPr sz="950" b="1">
                <a:solidFill>
                  <a:srgbClr val="22C55E"/>
                </a:solidFill>
              </a:defRPr>
            </a:pPr>
            <a:r>
              <a:t>KEY ATTRIBUTES &amp; PROTOCOLS:</a:t>
            </a:r>
          </a:p>
          <a:p>
            <a:pPr>
              <a:spcBef>
                <a:spcPts val="400"/>
              </a:spcBef>
              <a:defRPr sz="1050">
                <a:solidFill>
                  <a:srgbClr val="E2E8F0"/>
                </a:solidFill>
              </a:defRPr>
            </a:pPr>
            <a:r>
              <a:t>•   Electric bus &amp; commercial vehicle fleet rollouts on the road</a:t>
            </a:r>
          </a:p>
          <a:p>
            <a:pPr>
              <a:spcBef>
                <a:spcPts val="400"/>
              </a:spcBef>
              <a:defRPr sz="1050">
                <a:solidFill>
                  <a:srgbClr val="E2E8F0"/>
                </a:solidFill>
              </a:defRPr>
            </a:pPr>
            <a:r>
              <a:t>•   High-power charging depot infrastructure in daily operation</a:t>
            </a:r>
          </a:p>
          <a:p>
            <a:pPr>
              <a:spcBef>
                <a:spcPts val="400"/>
              </a:spcBef>
              <a:defRPr sz="1050">
                <a:solidFill>
                  <a:srgbClr val="E2E8F0"/>
                </a:solidFill>
              </a:defRPr>
            </a:pPr>
            <a:r>
              <a:t>•   Official flag-off ceremonies with state transport ministers</a:t>
            </a:r>
          </a:p>
          <a:p>
            <a:pPr>
              <a:spcBef>
                <a:spcPts val="400"/>
              </a:spcBef>
              <a:defRPr sz="1050">
                <a:solidFill>
                  <a:srgbClr val="E2E8F0"/>
                </a:solidFill>
              </a:defRPr>
            </a:pPr>
            <a:r>
              <a:t>•   Driver training, workshop safety drills, and technician teams</a:t>
            </a:r>
          </a:p>
          <a:p>
            <a:pPr>
              <a:spcBef>
                <a:spcPts val="400"/>
              </a:spcBef>
              <a:defRPr sz="1050">
                <a:solidFill>
                  <a:srgbClr val="E2E8F0"/>
                </a:solidFill>
              </a:defRPr>
            </a:pPr>
            <a:r>
              <a:t>•   Instant search and download for PR, presentations, and media kits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Fleet Deployments</a:t>
            </a:r>
          </a:p>
          <a:p>
            <a:pPr>
              <a:spcBef>
                <a:spcPts val="400"/>
              </a:spcBef>
              <a:defRPr sz="950">
                <a:solidFill>
                  <a:srgbClr val="94A3B8"/>
                </a:solidFill>
              </a:defRPr>
            </a:pPr>
            <a:r>
              <a:t>On-road electric transit vehicles operating across municipal routes.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Depot Infrastructure</a:t>
            </a:r>
          </a:p>
          <a:p>
            <a:pPr>
              <a:spcBef>
                <a:spcPts val="400"/>
              </a:spcBef>
              <a:defRPr sz="950">
                <a:solidFill>
                  <a:srgbClr val="94A3B8"/>
                </a:solidFill>
              </a:defRPr>
            </a:pPr>
            <a:r>
              <a:t>High-voltage charging hubs, overhead gantries, and sub-stations.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Flag-Off Milestones</a:t>
            </a:r>
          </a:p>
          <a:p>
            <a:pPr>
              <a:spcBef>
                <a:spcPts val="400"/>
              </a:spcBef>
              <a:defRPr sz="950">
                <a:solidFill>
                  <a:srgbClr val="94A3B8"/>
                </a:solidFill>
              </a:defRPr>
            </a:pPr>
            <a:r>
              <a:t>Official state inaugurations, ribbon-cuttings, and partnership launches.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Leadership &amp; Site Visits</a:t>
            </a:r>
          </a:p>
          <a:p>
            <a:pPr>
              <a:spcBef>
                <a:spcPts val="400"/>
              </a:spcBef>
              <a:defRPr sz="950">
                <a:solidFill>
                  <a:srgbClr val="94A3B8"/>
                </a:solidFill>
              </a:defRPr>
            </a:pPr>
            <a:r>
              <a:t>Client walkthroughs, OEM factory tours, and executive board meetings.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Training &amp; Safety</a:t>
            </a:r>
          </a:p>
          <a:p>
            <a:pPr>
              <a:spcBef>
                <a:spcPts val="400"/>
              </a:spcBef>
              <a:defRPr sz="950">
                <a:solidFill>
                  <a:srgbClr val="94A3B8"/>
                </a:solidFill>
              </a:defRPr>
            </a:pPr>
            <a:r>
              <a:t>EV driver training academies, mechanical workshops, and safety gear.</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High-Res Image Vault</a:t>
            </a:r>
          </a:p>
          <a:p>
            <a:pPr>
              <a:spcBef>
                <a:spcPts val="400"/>
              </a:spcBef>
              <a:defRPr sz="950">
                <a:solidFill>
                  <a:srgbClr val="94A3B8"/>
                </a:solidFill>
              </a:defRPr>
            </a:pPr>
            <a:r>
              <a:t>Tagged, high-resolution original photography ready for print and media.</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14 of 25  |  Transvolt Mobility Brand Management Portal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14 — VEHICLE BRANDING</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Vehicle Fleet Branding</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The Right Artwork for the Right Vehicle &amp; Project</a:t>
            </a:r>
          </a:p>
          <a:p>
            <a:pPr>
              <a:spcBef>
                <a:spcPts val="800"/>
              </a:spcBef>
              <a:defRPr sz="1100">
                <a:solidFill>
                  <a:srgbClr val="94A3B8"/>
                </a:solidFill>
              </a:defRPr>
            </a:pPr>
            <a:r>
              <a:t>Different electric vehicles require distinct artwork due to OEM body variants, emergency exit placements, window cuts, and specific state transport authority contracts.</a:t>
            </a:r>
          </a:p>
          <a:p>
            <a:pPr>
              <a:spcBef>
                <a:spcPts val="1200"/>
              </a:spcBef>
              <a:defRPr sz="950" b="1">
                <a:solidFill>
                  <a:srgbClr val="22C55E"/>
                </a:solidFill>
              </a:defRPr>
            </a:pPr>
            <a:r>
              <a:t>KEY ATTRIBUTES &amp; PROTOCOLS:</a:t>
            </a:r>
          </a:p>
          <a:p>
            <a:pPr>
              <a:spcBef>
                <a:spcPts val="400"/>
              </a:spcBef>
              <a:defRPr sz="1050">
                <a:solidFill>
                  <a:srgbClr val="E2E8F0"/>
                </a:solidFill>
              </a:defRPr>
            </a:pPr>
            <a:r>
              <a:t>•   OEM-specific body structures (Tata Motors, JBM, Olectra, Switch Mobility)</a:t>
            </a:r>
          </a:p>
          <a:p>
            <a:pPr>
              <a:spcBef>
                <a:spcPts val="400"/>
              </a:spcBef>
              <a:defRPr sz="1050">
                <a:solidFill>
                  <a:srgbClr val="E2E8F0"/>
                </a:solidFill>
              </a:defRPr>
            </a:pPr>
            <a:r>
              <a:t>•   Exact window cutouts and emergency door clearance specifications</a:t>
            </a:r>
          </a:p>
          <a:p>
            <a:pPr>
              <a:spcBef>
                <a:spcPts val="400"/>
              </a:spcBef>
              <a:defRPr sz="1050">
                <a:solidFill>
                  <a:srgbClr val="E2E8F0"/>
                </a:solidFill>
              </a:defRPr>
            </a:pPr>
            <a:r>
              <a:t>•   State transport &amp; municipal fleet contract guidelines (BEST, MSRTC, etc.)</a:t>
            </a:r>
          </a:p>
          <a:p>
            <a:pPr>
              <a:spcBef>
                <a:spcPts val="400"/>
              </a:spcBef>
              <a:defRPr sz="1050">
                <a:solidFill>
                  <a:srgbClr val="E2E8F0"/>
                </a:solidFill>
              </a:defRPr>
            </a:pPr>
            <a:r>
              <a:t>•   Pre-verified full body wrap and partial decal layouts</a:t>
            </a:r>
          </a:p>
          <a:p>
            <a:pPr>
              <a:spcBef>
                <a:spcPts val="400"/>
              </a:spcBef>
              <a:defRPr sz="1050">
                <a:solidFill>
                  <a:srgbClr val="E2E8F0"/>
                </a:solidFill>
              </a:defRPr>
            </a:pPr>
            <a:r>
              <a:t>•   Direct sharing of production CDR files with wrap vendors</a:t>
            </a:r>
          </a:p>
          <a:p>
            <a:pPr>
              <a:spcBef>
                <a:spcPts val="400"/>
              </a:spcBef>
              <a:defRPr sz="1050">
                <a:solidFill>
                  <a:srgbClr val="E2E8F0"/>
                </a:solidFill>
              </a:defRPr>
            </a:pPr>
            <a:r>
              <a:t>•   Eliminates costly measurement errors during vinyl application</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OEM Structure Mapping</a:t>
            </a:r>
          </a:p>
          <a:p>
            <a:pPr>
              <a:spcBef>
                <a:spcPts val="400"/>
              </a:spcBef>
              <a:defRPr sz="950">
                <a:solidFill>
                  <a:srgbClr val="94A3B8"/>
                </a:solidFill>
              </a:defRPr>
            </a:pPr>
            <a:r>
              <a:t>Specific body layouts for 9-meter, 12-meter, and articulated electric buses.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Chassis Sizing</a:t>
            </a:r>
          </a:p>
          <a:p>
            <a:pPr>
              <a:spcBef>
                <a:spcPts val="400"/>
              </a:spcBef>
              <a:defRPr sz="950">
                <a:solidFill>
                  <a:srgbClr val="94A3B8"/>
                </a:solidFill>
              </a:defRPr>
            </a:pPr>
            <a:r>
              <a:t>Dimension-accurate blueprint templates reflecting real panel seam lines.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State Contract Specs</a:t>
            </a:r>
          </a:p>
          <a:p>
            <a:pPr>
              <a:spcBef>
                <a:spcPts val="400"/>
              </a:spcBef>
              <a:defRPr sz="950">
                <a:solidFill>
                  <a:srgbClr val="94A3B8"/>
                </a:solidFill>
              </a:defRPr>
            </a:pPr>
            <a:r>
              <a:t>Specific municipal transport color schemes and official state logos.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Full Body Wraps</a:t>
            </a:r>
          </a:p>
          <a:p>
            <a:pPr>
              <a:spcBef>
                <a:spcPts val="400"/>
              </a:spcBef>
              <a:defRPr sz="950">
                <a:solidFill>
                  <a:srgbClr val="94A3B8"/>
                </a:solidFill>
              </a:defRPr>
            </a:pPr>
            <a:r>
              <a:t>Pre-approved print-ready artwork formatted for wide-format vinyl printers.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Decal &amp; Warning Sets</a:t>
            </a:r>
          </a:p>
          <a:p>
            <a:pPr>
              <a:spcBef>
                <a:spcPts val="400"/>
              </a:spcBef>
              <a:defRPr sz="950">
                <a:solidFill>
                  <a:srgbClr val="94A3B8"/>
                </a:solidFill>
              </a:defRPr>
            </a:pPr>
            <a:r>
              <a:t>Emergency door instructions, high-voltage indicators, and fleet numbering.</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6-Hour Wrap Links</a:t>
            </a:r>
          </a:p>
          <a:p>
            <a:pPr>
              <a:spcBef>
                <a:spcPts val="400"/>
              </a:spcBef>
              <a:defRPr sz="950">
                <a:solidFill>
                  <a:srgbClr val="94A3B8"/>
                </a:solidFill>
              </a:defRPr>
            </a:pPr>
            <a:r>
              <a:t>Share production CDR/EPS files directly with wrap contractors securely.</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15 of 25  |  Transvolt Mobility Brand Management Portal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15 — CHARGER BRANDING</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EV Charger Branding</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Standardising Branding Across Charger OEMs</a:t>
            </a:r>
          </a:p>
          <a:p>
            <a:pPr>
              <a:spcBef>
                <a:spcPts val="800"/>
              </a:spcBef>
              <a:defRPr sz="1100">
                <a:solidFill>
                  <a:srgbClr val="94A3B8"/>
                </a:solidFill>
              </a:defRPr>
            </a:pPr>
            <a:r>
              <a:t>Depot and public chargers from different hardware manufacturers feature unique cabinet geometries, cooling vents, screen cutouts, and high-voltage electrical safety guidelines.</a:t>
            </a:r>
          </a:p>
          <a:p>
            <a:pPr>
              <a:spcBef>
                <a:spcPts val="1200"/>
              </a:spcBef>
              <a:defRPr sz="950" b="1">
                <a:solidFill>
                  <a:srgbClr val="22C55E"/>
                </a:solidFill>
              </a:defRPr>
            </a:pPr>
            <a:r>
              <a:t>KEY ATTRIBUTES &amp; PROTOCOLS:</a:t>
            </a:r>
          </a:p>
          <a:p>
            <a:pPr>
              <a:spcBef>
                <a:spcPts val="400"/>
              </a:spcBef>
              <a:defRPr sz="1050">
                <a:solidFill>
                  <a:srgbClr val="E2E8F0"/>
                </a:solidFill>
              </a:defRPr>
            </a:pPr>
            <a:r>
              <a:t>•   Cabinet dimensions mapped for 60kW, 120kW, and 240kW DC fast chargers</a:t>
            </a:r>
          </a:p>
          <a:p>
            <a:pPr>
              <a:spcBef>
                <a:spcPts val="400"/>
              </a:spcBef>
              <a:defRPr sz="1050">
                <a:solidFill>
                  <a:srgbClr val="E2E8F0"/>
                </a:solidFill>
              </a:defRPr>
            </a:pPr>
            <a:r>
              <a:t>•   Clearances for cooling vents, cable holsters, and digital touchscreens</a:t>
            </a:r>
          </a:p>
          <a:p>
            <a:pPr>
              <a:spcBef>
                <a:spcPts val="400"/>
              </a:spcBef>
              <a:defRPr sz="1050">
                <a:solidFill>
                  <a:srgbClr val="E2E8F0"/>
                </a:solidFill>
              </a:defRPr>
            </a:pPr>
            <a:r>
              <a:t>•   Mandatory electrical safety warnings and high-voltage decal layouts</a:t>
            </a:r>
          </a:p>
          <a:p>
            <a:pPr>
              <a:spcBef>
                <a:spcPts val="400"/>
              </a:spcBef>
              <a:defRPr sz="1050">
                <a:solidFill>
                  <a:srgbClr val="E2E8F0"/>
                </a:solidFill>
              </a:defRPr>
            </a:pPr>
            <a:r>
              <a:t>•   Pre-verified wrap artwork matching specific hardware models</a:t>
            </a:r>
          </a:p>
          <a:p>
            <a:pPr>
              <a:spcBef>
                <a:spcPts val="400"/>
              </a:spcBef>
              <a:defRPr sz="1050">
                <a:solidFill>
                  <a:srgbClr val="E2E8F0"/>
                </a:solidFill>
              </a:defRPr>
            </a:pPr>
            <a:r>
              <a:t>•   Guaranteed visual uniformity across all Transvolt depot sites nationwide</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Multi-OEM Hardware</a:t>
            </a:r>
          </a:p>
          <a:p>
            <a:pPr>
              <a:spcBef>
                <a:spcPts val="400"/>
              </a:spcBef>
              <a:defRPr sz="950">
                <a:solidFill>
                  <a:srgbClr val="94A3B8"/>
                </a:solidFill>
              </a:defRPr>
            </a:pPr>
            <a:r>
              <a:t>Tailored wrap artwork for Exicom, Servotech, Delta, and ABB enclosures.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Power Rating Variants</a:t>
            </a:r>
          </a:p>
          <a:p>
            <a:pPr>
              <a:spcBef>
                <a:spcPts val="400"/>
              </a:spcBef>
              <a:defRPr sz="950">
                <a:solidFill>
                  <a:srgbClr val="94A3B8"/>
                </a:solidFill>
              </a:defRPr>
            </a:pPr>
            <a:r>
              <a:t>Standardized templates for 60kW, 120kW, 180kW, and 240kW dual-gun chargers.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Screen Clearances</a:t>
            </a:r>
          </a:p>
          <a:p>
            <a:pPr>
              <a:spcBef>
                <a:spcPts val="400"/>
              </a:spcBef>
              <a:defRPr sz="950">
                <a:solidFill>
                  <a:srgbClr val="94A3B8"/>
                </a:solidFill>
              </a:defRPr>
            </a:pPr>
            <a:r>
              <a:t>Precise cutouts for RFID scanners, touchscreens, and emergency stop buttons.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Electrical Hazard Decals</a:t>
            </a:r>
          </a:p>
          <a:p>
            <a:pPr>
              <a:spcBef>
                <a:spcPts val="400"/>
              </a:spcBef>
              <a:defRPr sz="950">
                <a:solidFill>
                  <a:srgbClr val="94A3B8"/>
                </a:solidFill>
              </a:defRPr>
            </a:pPr>
            <a:r>
              <a:t>Compliant danger icons, high-voltage warnings, and earthing markers.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Depot Uniformity</a:t>
            </a:r>
          </a:p>
          <a:p>
            <a:pPr>
              <a:spcBef>
                <a:spcPts val="400"/>
              </a:spcBef>
              <a:defRPr sz="950">
                <a:solidFill>
                  <a:srgbClr val="94A3B8"/>
                </a:solidFill>
              </a:defRPr>
            </a:pPr>
            <a:r>
              <a:t>Consistent Transvolt livery across all regional charging plazas.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Print-Ready Vector Files</a:t>
            </a:r>
          </a:p>
          <a:p>
            <a:pPr>
              <a:spcBef>
                <a:spcPts val="400"/>
              </a:spcBef>
              <a:defRPr sz="950">
                <a:solidFill>
                  <a:srgbClr val="94A3B8"/>
                </a:solidFill>
              </a:defRPr>
            </a:pPr>
            <a:r>
              <a:t>Direct CDR and vector PDF downloads for enclosure wrap manufacturers.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16 of 25  |  Transvolt Mobility Brand Management Portal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16 — ORGANIZATION CHART</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Organization Hierarchy</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Site-Wise Organization Management</a:t>
            </a:r>
          </a:p>
          <a:p>
            <a:pPr>
              <a:spcBef>
                <a:spcPts val="800"/>
              </a:spcBef>
              <a:defRPr sz="1100">
                <a:solidFill>
                  <a:srgbClr val="94A3B8"/>
                </a:solidFill>
              </a:defRPr>
            </a:pPr>
            <a:r>
              <a:t>Visualizing organizational structures and leadership reporting lines across depots, regional hubs, and corporate departments. Replaces outdated corporate spreadsheets with an interactive visual hierarchy.</a:t>
            </a:r>
          </a:p>
          <a:p>
            <a:pPr>
              <a:spcBef>
                <a:spcPts val="1200"/>
              </a:spcBef>
              <a:defRPr sz="950" b="1">
                <a:solidFill>
                  <a:srgbClr val="22C55E"/>
                </a:solidFill>
              </a:defRPr>
            </a:pPr>
            <a:r>
              <a:t>KEY ATTRIBUTES &amp; PROTOCOLS:</a:t>
            </a:r>
          </a:p>
          <a:p>
            <a:pPr>
              <a:spcBef>
                <a:spcPts val="400"/>
              </a:spcBef>
              <a:defRPr sz="1050">
                <a:solidFill>
                  <a:srgbClr val="E2E8F0"/>
                </a:solidFill>
              </a:defRPr>
            </a:pPr>
            <a:r>
              <a:t>•   Site-wise organizational structure mapping across all depots</a:t>
            </a:r>
          </a:p>
          <a:p>
            <a:pPr>
              <a:spcBef>
                <a:spcPts val="400"/>
              </a:spcBef>
              <a:defRPr sz="1050">
                <a:solidFill>
                  <a:srgbClr val="E2E8F0"/>
                </a:solidFill>
              </a:defRPr>
            </a:pPr>
            <a:r>
              <a:t>•   Clear departmental hierarchy and executive team reporting lines</a:t>
            </a:r>
          </a:p>
          <a:p>
            <a:pPr>
              <a:spcBef>
                <a:spcPts val="400"/>
              </a:spcBef>
              <a:defRPr sz="1050">
                <a:solidFill>
                  <a:srgbClr val="E2E8F0"/>
                </a:solidFill>
              </a:defRPr>
            </a:pPr>
            <a:r>
              <a:t>•   Interactive auto-layout with intuitive drag-and-drop navigation</a:t>
            </a:r>
          </a:p>
          <a:p>
            <a:pPr>
              <a:spcBef>
                <a:spcPts val="400"/>
              </a:spcBef>
              <a:defRPr sz="1050">
                <a:solidFill>
                  <a:srgbClr val="E2E8F0"/>
                </a:solidFill>
              </a:defRPr>
            </a:pPr>
            <a:r>
              <a:t>•   Dynamic orthogonal connection lines showing reporting paths</a:t>
            </a:r>
          </a:p>
          <a:p>
            <a:pPr>
              <a:spcBef>
                <a:spcPts val="400"/>
              </a:spcBef>
              <a:defRPr sz="1050">
                <a:solidFill>
                  <a:srgbClr val="E2E8F0"/>
                </a:solidFill>
              </a:defRPr>
            </a:pPr>
            <a:r>
              <a:t>•   High-resolution export for board presentations, compliance &amp; HR audits</a:t>
            </a:r>
          </a:p>
          <a:p>
            <a:pPr>
              <a:spcBef>
                <a:spcPts val="400"/>
              </a:spcBef>
              <a:defRPr sz="1050">
                <a:solidFill>
                  <a:srgbClr val="E2E8F0"/>
                </a:solidFill>
              </a:defRPr>
            </a:pPr>
            <a:r>
              <a:t>•   Real-time updates whenever staffing or reporting changes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Site-Wise Hierarchy</a:t>
            </a:r>
          </a:p>
          <a:p>
            <a:pPr>
              <a:spcBef>
                <a:spcPts val="400"/>
              </a:spcBef>
              <a:defRPr sz="950">
                <a:solidFill>
                  <a:srgbClr val="94A3B8"/>
                </a:solidFill>
              </a:defRPr>
            </a:pPr>
            <a:r>
              <a:t>Filter structure by Mumbai Central, Pune, Ahmedabad, or Head Office.</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Role &amp; Department Nodes</a:t>
            </a:r>
          </a:p>
          <a:p>
            <a:pPr>
              <a:spcBef>
                <a:spcPts val="400"/>
              </a:spcBef>
              <a:defRPr sz="950">
                <a:solidFill>
                  <a:srgbClr val="94A3B8"/>
                </a:solidFill>
              </a:defRPr>
            </a:pPr>
            <a:r>
              <a:t>Clear job titles, departmental tags, and team reporting relationships.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Interactive Layout</a:t>
            </a:r>
          </a:p>
          <a:p>
            <a:pPr>
              <a:spcBef>
                <a:spcPts val="400"/>
              </a:spcBef>
              <a:defRPr sz="950">
                <a:solidFill>
                  <a:srgbClr val="94A3B8"/>
                </a:solidFill>
              </a:defRPr>
            </a:pPr>
            <a:r>
              <a:t>Smooth zoom, pan, and collapsible sub-trees for large regional teams.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Reporting Lines</a:t>
            </a:r>
          </a:p>
          <a:p>
            <a:pPr>
              <a:spcBef>
                <a:spcPts val="400"/>
              </a:spcBef>
              <a:defRPr sz="950">
                <a:solidFill>
                  <a:srgbClr val="94A3B8"/>
                </a:solidFill>
              </a:defRPr>
            </a:pPr>
            <a:r>
              <a:t>Visual orthogonal connector paths displaying operational chains of command.</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High-Res Export</a:t>
            </a:r>
          </a:p>
          <a:p>
            <a:pPr>
              <a:spcBef>
                <a:spcPts val="400"/>
              </a:spcBef>
              <a:defRPr sz="950">
                <a:solidFill>
                  <a:srgbClr val="94A3B8"/>
                </a:solidFill>
              </a:defRPr>
            </a:pPr>
            <a:r>
              <a:t>Export the full organizational chart as crisp PNG or printable vector PDF.</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Depot Staff Overview</a:t>
            </a:r>
          </a:p>
          <a:p>
            <a:pPr>
              <a:spcBef>
                <a:spcPts val="400"/>
              </a:spcBef>
              <a:defRPr sz="950">
                <a:solidFill>
                  <a:srgbClr val="94A3B8"/>
                </a:solidFill>
              </a:defRPr>
            </a:pPr>
            <a:r>
              <a:t>Instant insight into site managers, lead engineers, and field technicians.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17 of 25  |  Transvolt Mobility Brand Management Portal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17 — ACCESS MANAGEMENT</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Controlled Access Governance</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Right Person. Right Page. Right Permission.</a:t>
            </a:r>
          </a:p>
          <a:p>
            <a:pPr>
              <a:spcBef>
                <a:spcPts val="800"/>
              </a:spcBef>
              <a:defRPr sz="1100">
                <a:solidFill>
                  <a:srgbClr val="94A3B8"/>
                </a:solidFill>
              </a:defRPr>
            </a:pPr>
            <a:r>
              <a:t>Super Admins control exactly what each user can see and do across every page of the portal. Access is not all-or-nothing—it is tailored to the user's specific operational requirements.</a:t>
            </a:r>
          </a:p>
          <a:p>
            <a:pPr>
              <a:spcBef>
                <a:spcPts val="1200"/>
              </a:spcBef>
              <a:defRPr sz="950" b="1">
                <a:solidFill>
                  <a:srgbClr val="22C55E"/>
                </a:solidFill>
              </a:defRPr>
            </a:pPr>
            <a:r>
              <a:t>KEY ATTRIBUTES &amp; PROTOCOLS:</a:t>
            </a:r>
          </a:p>
          <a:p>
            <a:pPr>
              <a:spcBef>
                <a:spcPts val="400"/>
              </a:spcBef>
              <a:defRPr sz="1050">
                <a:solidFill>
                  <a:srgbClr val="E2E8F0"/>
                </a:solidFill>
              </a:defRPr>
            </a:pPr>
            <a:r>
              <a:t>•   Granular page-by-page permission matrix for every portal category</a:t>
            </a:r>
          </a:p>
          <a:p>
            <a:pPr>
              <a:spcBef>
                <a:spcPts val="400"/>
              </a:spcBef>
              <a:defRPr sz="1050">
                <a:solidFill>
                  <a:srgbClr val="E2E8F0"/>
                </a:solidFill>
              </a:defRPr>
            </a:pPr>
            <a:r>
              <a:t>•   6 distinct capability tiers (View, Download, Share, Create, Edit, Manage)</a:t>
            </a:r>
          </a:p>
          <a:p>
            <a:pPr>
              <a:spcBef>
                <a:spcPts val="400"/>
              </a:spcBef>
              <a:defRPr sz="1050">
                <a:solidFill>
                  <a:srgbClr val="E2E8F0"/>
                </a:solidFill>
              </a:defRPr>
            </a:pPr>
            <a:r>
              <a:t>•   Independent access rules for in-house employees vs. external vendors</a:t>
            </a:r>
          </a:p>
          <a:p>
            <a:pPr>
              <a:spcBef>
                <a:spcPts val="400"/>
              </a:spcBef>
              <a:defRPr sz="1050">
                <a:solidFill>
                  <a:srgbClr val="E2E8F0"/>
                </a:solidFill>
              </a:defRPr>
            </a:pPr>
            <a:r>
              <a:t>•   Complete protection against unapproved asset tampering or deletions</a:t>
            </a:r>
          </a:p>
          <a:p>
            <a:pPr>
              <a:spcBef>
                <a:spcPts val="400"/>
              </a:spcBef>
              <a:defRPr sz="1050">
                <a:solidFill>
                  <a:srgbClr val="E2E8F0"/>
                </a:solidFill>
              </a:defRPr>
            </a:pPr>
            <a:r>
              <a:t>•   Zero uncontrolled circulation of sensitive corporate documents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View Permission</a:t>
            </a:r>
          </a:p>
          <a:p>
            <a:pPr>
              <a:spcBef>
                <a:spcPts val="400"/>
              </a:spcBef>
              <a:defRPr sz="950">
                <a:solidFill>
                  <a:srgbClr val="94A3B8"/>
                </a:solidFill>
              </a:defRPr>
            </a:pPr>
            <a:r>
              <a:t>Browse-only access for general team members and auditors.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Download Permission</a:t>
            </a:r>
          </a:p>
          <a:p>
            <a:pPr>
              <a:spcBef>
                <a:spcPts val="400"/>
              </a:spcBef>
              <a:defRPr sz="950">
                <a:solidFill>
                  <a:srgbClr val="94A3B8"/>
                </a:solidFill>
              </a:defRPr>
            </a:pPr>
            <a:r>
              <a:t>Enables authorized staff to download high-res vectors and stationery.</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Share Permission</a:t>
            </a:r>
          </a:p>
          <a:p>
            <a:pPr>
              <a:spcBef>
                <a:spcPts val="400"/>
              </a:spcBef>
              <a:defRPr sz="950">
                <a:solidFill>
                  <a:srgbClr val="94A3B8"/>
                </a:solidFill>
              </a:defRPr>
            </a:pPr>
            <a:r>
              <a:t>Allows verified managers to generate 6-hour expiring vendor links.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Create Permission</a:t>
            </a:r>
          </a:p>
          <a:p>
            <a:pPr>
              <a:spcBef>
                <a:spcPts val="400"/>
              </a:spcBef>
              <a:defRPr sz="950">
                <a:solidFill>
                  <a:srgbClr val="94A3B8"/>
                </a:solidFill>
              </a:defRPr>
            </a:pPr>
            <a:r>
              <a:t>Empowers creative leads to upload new approved graphics and photos.</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Edit Permission</a:t>
            </a:r>
          </a:p>
          <a:p>
            <a:pPr>
              <a:spcBef>
                <a:spcPts val="400"/>
              </a:spcBef>
              <a:defRPr sz="950">
                <a:solidFill>
                  <a:srgbClr val="94A3B8"/>
                </a:solidFill>
              </a:defRPr>
            </a:pPr>
            <a:r>
              <a:t>Allows replacing outdated asset variants with new versions cleanly.</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Super Admin Control</a:t>
            </a:r>
          </a:p>
          <a:p>
            <a:pPr>
              <a:spcBef>
                <a:spcPts val="400"/>
              </a:spcBef>
              <a:defRPr sz="950">
                <a:solidFill>
                  <a:srgbClr val="94A3B8"/>
                </a:solidFill>
              </a:defRPr>
            </a:pPr>
            <a:r>
              <a:t>Full administrative control over user accounts, roles, and master settings.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18 of 25  |  Transvolt Mobility Brand Management Portal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18 — ACCESS REQUEST SYSTEM</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Smart Access Request</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Simple for Users. Controlled for Admins.</a:t>
            </a:r>
          </a:p>
          <a:p>
            <a:pPr>
              <a:spcBef>
                <a:spcPts val="800"/>
              </a:spcBef>
              <a:defRPr sz="1100">
                <a:solidFill>
                  <a:srgbClr val="94A3B8"/>
                </a:solidFill>
              </a:defRPr>
            </a:pPr>
            <a:r>
              <a:t>Frictionless self-service access request flow paired with one-click Super Admin review. New employees and vendors request access in seconds directly from the login page without passwords.</a:t>
            </a:r>
          </a:p>
          <a:p>
            <a:pPr>
              <a:spcBef>
                <a:spcPts val="1200"/>
              </a:spcBef>
              <a:defRPr sz="950" b="1">
                <a:solidFill>
                  <a:srgbClr val="22C55E"/>
                </a:solidFill>
              </a:defRPr>
            </a:pPr>
            <a:r>
              <a:t>KEY ATTRIBUTES &amp; PROTOCOLS:</a:t>
            </a:r>
          </a:p>
          <a:p>
            <a:pPr>
              <a:spcBef>
                <a:spcPts val="400"/>
              </a:spcBef>
              <a:defRPr sz="1050">
                <a:solidFill>
                  <a:srgbClr val="E2E8F0"/>
                </a:solidFill>
              </a:defRPr>
            </a:pPr>
            <a:r>
              <a:t>•   1-Click 'Request Access' button prominently located on Login screen</a:t>
            </a:r>
          </a:p>
          <a:p>
            <a:pPr>
              <a:spcBef>
                <a:spcPts val="400"/>
              </a:spcBef>
              <a:defRPr sz="1050">
                <a:solidFill>
                  <a:srgbClr val="E2E8F0"/>
                </a:solidFill>
              </a:defRPr>
            </a:pPr>
            <a:r>
              <a:t>•   Requester submits official email, name, and operational purpose</a:t>
            </a:r>
          </a:p>
          <a:p>
            <a:pPr>
              <a:spcBef>
                <a:spcPts val="400"/>
              </a:spcBef>
              <a:defRPr sz="1050">
                <a:solidFill>
                  <a:srgbClr val="E2E8F0"/>
                </a:solidFill>
              </a:defRPr>
            </a:pPr>
            <a:r>
              <a:t>•   Instant notification alert bell triggered for the Super Admin</a:t>
            </a:r>
          </a:p>
          <a:p>
            <a:pPr>
              <a:spcBef>
                <a:spcPts val="400"/>
              </a:spcBef>
              <a:defRPr sz="1050">
                <a:solidFill>
                  <a:srgbClr val="E2E8F0"/>
                </a:solidFill>
              </a:defRPr>
            </a:pPr>
            <a:r>
              <a:t>•   1-Click approval with custom page-by-page permissions assigned</a:t>
            </a:r>
          </a:p>
          <a:p>
            <a:pPr>
              <a:spcBef>
                <a:spcPts val="400"/>
              </a:spcBef>
              <a:defRPr sz="1050">
                <a:solidFill>
                  <a:srgbClr val="E2E8F0"/>
                </a:solidFill>
              </a:defRPr>
            </a:pPr>
            <a:r>
              <a:t>•   Automated confirmation email delivered to the approved requester</a:t>
            </a:r>
          </a:p>
          <a:p>
            <a:pPr>
              <a:spcBef>
                <a:spcPts val="400"/>
              </a:spcBef>
              <a:defRPr sz="1050">
                <a:solidFill>
                  <a:srgbClr val="E2E8F0"/>
                </a:solidFill>
              </a:defRPr>
            </a:pPr>
            <a:r>
              <a:t>•   Full enterprise security audit trail of all access approvals and rejections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Self-Service Flow</a:t>
            </a:r>
          </a:p>
          <a:p>
            <a:pPr>
              <a:spcBef>
                <a:spcPts val="400"/>
              </a:spcBef>
              <a:defRPr sz="950">
                <a:solidFill>
                  <a:srgbClr val="94A3B8"/>
                </a:solidFill>
              </a:defRPr>
            </a:pPr>
            <a:r>
              <a:t>Users submit their official email and intended purpose directly from login.</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Instant Bell Alert</a:t>
            </a:r>
          </a:p>
          <a:p>
            <a:pPr>
              <a:spcBef>
                <a:spcPts val="400"/>
              </a:spcBef>
              <a:defRPr sz="950">
                <a:solidFill>
                  <a:srgbClr val="94A3B8"/>
                </a:solidFill>
              </a:defRPr>
            </a:pPr>
            <a:r>
              <a:t>Pulsing red notification indicator immediately alerts the Super Admin.</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Granular Controls</a:t>
            </a:r>
          </a:p>
          <a:p>
            <a:pPr>
              <a:spcBef>
                <a:spcPts val="400"/>
              </a:spcBef>
              <a:defRPr sz="950">
                <a:solidFill>
                  <a:srgbClr val="94A3B8"/>
                </a:solidFill>
              </a:defRPr>
            </a:pPr>
            <a:r>
              <a:t>Check off specific categories the user is allowed to access before approving.</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1-Click Approvals</a:t>
            </a:r>
          </a:p>
          <a:p>
            <a:pPr>
              <a:spcBef>
                <a:spcPts val="400"/>
              </a:spcBef>
              <a:defRPr sz="950">
                <a:solidFill>
                  <a:srgbClr val="94A3B8"/>
                </a:solidFill>
              </a:defRPr>
            </a:pPr>
            <a:r>
              <a:t>Approve or decline requests with a single click in the Super Admin modal.</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Instant Activation</a:t>
            </a:r>
          </a:p>
          <a:p>
            <a:pPr>
              <a:spcBef>
                <a:spcPts val="400"/>
              </a:spcBef>
              <a:defRPr sz="950">
                <a:solidFill>
                  <a:srgbClr val="94A3B8"/>
                </a:solidFill>
              </a:defRPr>
            </a:pPr>
            <a:r>
              <a:t>Account credentials are activated immediately upon Super Admin approval.</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Audit Trail</a:t>
            </a:r>
          </a:p>
          <a:p>
            <a:pPr>
              <a:spcBef>
                <a:spcPts val="400"/>
              </a:spcBef>
              <a:defRPr sz="950">
                <a:solidFill>
                  <a:srgbClr val="94A3B8"/>
                </a:solidFill>
              </a:defRPr>
            </a:pPr>
            <a:r>
              <a:t>Complete history of who requested access, when, and who approved it.</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19 of 25  |  Transvolt Mobility Brand Management Portal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19 — CONTROLLED SHARING</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Timed Controlled Sharing</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Share with Time-Limited Security</a:t>
            </a:r>
          </a:p>
          <a:p>
            <a:pPr>
              <a:spcBef>
                <a:spcPts val="800"/>
              </a:spcBef>
              <a:defRPr sz="1100">
                <a:solidFill>
                  <a:srgbClr val="94A3B8"/>
                </a:solidFill>
              </a:defRPr>
            </a:pPr>
            <a:r>
              <a:t>Safe, temporary 6-hour links preventing permanent uncontrolled circulation. When a contractor, printer, or agency needs assets, send an auto-expiring portal link instead of large email attachments.</a:t>
            </a:r>
          </a:p>
          <a:p>
            <a:pPr>
              <a:spcBef>
                <a:spcPts val="1200"/>
              </a:spcBef>
              <a:defRPr sz="950" b="1">
                <a:solidFill>
                  <a:srgbClr val="22C55E"/>
                </a:solidFill>
              </a:defRPr>
            </a:pPr>
            <a:r>
              <a:t>KEY ATTRIBUTES &amp; PROTOCOLS:</a:t>
            </a:r>
          </a:p>
          <a:p>
            <a:pPr>
              <a:spcBef>
                <a:spcPts val="400"/>
              </a:spcBef>
              <a:defRPr sz="1050">
                <a:solidFill>
                  <a:srgbClr val="E2E8F0"/>
                </a:solidFill>
              </a:defRPr>
            </a:pPr>
            <a:r>
              <a:t>•   Auto-expiring 6-hour secure vendor view that terminates automatically</a:t>
            </a:r>
          </a:p>
          <a:p>
            <a:pPr>
              <a:spcBef>
                <a:spcPts val="400"/>
              </a:spcBef>
              <a:defRPr sz="1050">
                <a:solidFill>
                  <a:srgbClr val="E2E8F0"/>
                </a:solidFill>
              </a:defRPr>
            </a:pPr>
            <a:r>
              <a:t>•   Recipient accesses only requested files and exact color specifications</a:t>
            </a:r>
          </a:p>
          <a:p>
            <a:pPr>
              <a:spcBef>
                <a:spcPts val="400"/>
              </a:spcBef>
              <a:defRPr sz="1050">
                <a:solidFill>
                  <a:srgbClr val="E2E8F0"/>
                </a:solidFill>
              </a:defRPr>
            </a:pPr>
            <a:r>
              <a:t>•   Rest of the portal remains completely locked and invisible to the vendor</a:t>
            </a:r>
          </a:p>
          <a:p>
            <a:pPr>
              <a:spcBef>
                <a:spcPts val="400"/>
              </a:spcBef>
              <a:defRPr sz="1050">
                <a:solidFill>
                  <a:srgbClr val="E2E8F0"/>
                </a:solidFill>
              </a:defRPr>
            </a:pPr>
            <a:r>
              <a:t>•   Prevents outdated files from sitting indefinitely in third-party mailboxes</a:t>
            </a:r>
          </a:p>
          <a:p>
            <a:pPr>
              <a:spcBef>
                <a:spcPts val="400"/>
              </a:spcBef>
              <a:defRPr sz="1050">
                <a:solidFill>
                  <a:srgbClr val="E2E8F0"/>
                </a:solidFill>
              </a:defRPr>
            </a:pPr>
            <a:r>
              <a:t>•   Eliminates large email attachments, WeTransfer links, and bounced mail</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6-Hour Auto Expiry</a:t>
            </a:r>
          </a:p>
          <a:p>
            <a:pPr>
              <a:spcBef>
                <a:spcPts val="400"/>
              </a:spcBef>
              <a:defRPr sz="950">
                <a:solidFill>
                  <a:srgbClr val="94A3B8"/>
                </a:solidFill>
              </a:defRPr>
            </a:pPr>
            <a:r>
              <a:t>Links become completely inactive after 6 hours to prevent file leakage.</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Isolated Vendor View</a:t>
            </a:r>
          </a:p>
          <a:p>
            <a:pPr>
              <a:spcBef>
                <a:spcPts val="400"/>
              </a:spcBef>
              <a:defRPr sz="950">
                <a:solidFill>
                  <a:srgbClr val="94A3B8"/>
                </a:solidFill>
              </a:defRPr>
            </a:pPr>
            <a:r>
              <a:t>Third parties see only the single asset without access to internal data.</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Exact Color Codes</a:t>
            </a:r>
          </a:p>
          <a:p>
            <a:pPr>
              <a:spcBef>
                <a:spcPts val="400"/>
              </a:spcBef>
              <a:defRPr sz="950">
                <a:solidFill>
                  <a:srgbClr val="94A3B8"/>
                </a:solidFill>
              </a:defRPr>
            </a:pPr>
            <a:r>
              <a:t>Displays HEX, RGB, and CMYK codes directly alongside downloadable files.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Lossless Formats</a:t>
            </a:r>
          </a:p>
          <a:p>
            <a:pPr>
              <a:spcBef>
                <a:spcPts val="400"/>
              </a:spcBef>
              <a:defRPr sz="950">
                <a:solidFill>
                  <a:srgbClr val="94A3B8"/>
                </a:solidFill>
              </a:defRPr>
            </a:pPr>
            <a:r>
              <a:t>Vendors download verified PNG, SVG, CDR, or PDF files in full resolution.</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Zero Attachment Bloat</a:t>
            </a:r>
          </a:p>
          <a:p>
            <a:pPr>
              <a:spcBef>
                <a:spcPts val="400"/>
              </a:spcBef>
              <a:defRPr sz="950">
                <a:solidFill>
                  <a:srgbClr val="94A3B8"/>
                </a:solidFill>
              </a:defRPr>
            </a:pPr>
            <a:r>
              <a:t>No massive 100MB ZIP files clogging corporate email inboxes.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Sharing Log</a:t>
            </a:r>
          </a:p>
          <a:p>
            <a:pPr>
              <a:spcBef>
                <a:spcPts val="400"/>
              </a:spcBef>
              <a:defRPr sz="950">
                <a:solidFill>
                  <a:srgbClr val="94A3B8"/>
                </a:solidFill>
              </a:defRPr>
            </a:pPr>
            <a:r>
              <a:t>Super Admins can audit all active shared links and revoke them on demand.</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20 of 25  |  Transvolt Mobility Brand Management Portal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20 — THE TRANSFORMATION</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Before vs. With Portal</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From Scattered Files to a Managed Brand System</a:t>
            </a:r>
          </a:p>
          <a:p>
            <a:pPr>
              <a:spcBef>
                <a:spcPts val="800"/>
              </a:spcBef>
              <a:defRPr sz="1100">
                <a:solidFill>
                  <a:srgbClr val="94A3B8"/>
                </a:solidFill>
              </a:defRPr>
            </a:pPr>
            <a:r>
              <a:t>A dramatic transformation in corporate efficiency, production accuracy, and brand protection across all of Transvolt's operational divisions.</a:t>
            </a:r>
          </a:p>
          <a:p>
            <a:pPr>
              <a:spcBef>
                <a:spcPts val="1200"/>
              </a:spcBef>
              <a:defRPr sz="950" b="1">
                <a:solidFill>
                  <a:srgbClr val="22C55E"/>
                </a:solidFill>
              </a:defRPr>
            </a:pPr>
            <a:r>
              <a:t>KEY ATTRIBUTES &amp; PROTOCOLS:</a:t>
            </a:r>
          </a:p>
          <a:p>
            <a:pPr>
              <a:spcBef>
                <a:spcPts val="400"/>
              </a:spcBef>
              <a:defRPr sz="1050">
                <a:solidFill>
                  <a:srgbClr val="E2E8F0"/>
                </a:solidFill>
              </a:defRPr>
            </a:pPr>
            <a:r>
              <a:t>•   Before: Files scattered across personal laptops &amp; Google Drive links</a:t>
            </a:r>
          </a:p>
          <a:p>
            <a:pPr>
              <a:spcBef>
                <a:spcPts val="400"/>
              </a:spcBef>
              <a:defRPr sz="1050">
                <a:solidFill>
                  <a:srgbClr val="E2E8F0"/>
                </a:solidFill>
              </a:defRPr>
            </a:pPr>
            <a:r>
              <a:t>•   Before: Endless email chains and WhatsApp requests for high-res logos</a:t>
            </a:r>
          </a:p>
          <a:p>
            <a:pPr>
              <a:spcBef>
                <a:spcPts val="400"/>
              </a:spcBef>
              <a:defRPr sz="1050">
                <a:solidFill>
                  <a:srgbClr val="E2E8F0"/>
                </a:solidFill>
              </a:defRPr>
            </a:pPr>
            <a:r>
              <a:t>•   Before: Printers using incorrect low-res logos and mismatched colors</a:t>
            </a:r>
          </a:p>
          <a:p>
            <a:pPr>
              <a:spcBef>
                <a:spcPts val="400"/>
              </a:spcBef>
              <a:defRPr sz="1050">
                <a:solidFill>
                  <a:srgbClr val="E2E8F0"/>
                </a:solidFill>
              </a:defRPr>
            </a:pPr>
            <a:r>
              <a:t>•   With Portal: Single centralized source of truth for the entire company</a:t>
            </a:r>
          </a:p>
          <a:p>
            <a:pPr>
              <a:spcBef>
                <a:spcPts val="400"/>
              </a:spcBef>
              <a:defRPr sz="1050">
                <a:solidFill>
                  <a:srgbClr val="E2E8F0"/>
                </a:solidFill>
              </a:defRPr>
            </a:pPr>
            <a:r>
              <a:t>•   With Portal: Instant self-service for all verified staff &amp; vendors</a:t>
            </a:r>
          </a:p>
          <a:p>
            <a:pPr>
              <a:spcBef>
                <a:spcPts val="400"/>
              </a:spcBef>
              <a:defRPr sz="1050">
                <a:solidFill>
                  <a:srgbClr val="E2E8F0"/>
                </a:solidFill>
              </a:defRPr>
            </a:pPr>
            <a:r>
              <a:t>•   With Portal: 100% verified vector files and approved press specifications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Centralized Truth</a:t>
            </a:r>
          </a:p>
          <a:p>
            <a:pPr>
              <a:spcBef>
                <a:spcPts val="400"/>
              </a:spcBef>
              <a:defRPr sz="950">
                <a:solidFill>
                  <a:srgbClr val="94A3B8"/>
                </a:solidFill>
              </a:defRPr>
            </a:pPr>
            <a:r>
              <a:t>Replaces scattered desktop folders with one unified, searchable vault.</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Instant Self-Service</a:t>
            </a:r>
          </a:p>
          <a:p>
            <a:pPr>
              <a:spcBef>
                <a:spcPts val="400"/>
              </a:spcBef>
              <a:defRPr sz="950">
                <a:solidFill>
                  <a:srgbClr val="94A3B8"/>
                </a:solidFill>
              </a:defRPr>
            </a:pPr>
            <a:r>
              <a:t>Authorized staff get approved assets in 5 seconds instead of waiting days.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Zero Print Reprints</a:t>
            </a:r>
          </a:p>
          <a:p>
            <a:pPr>
              <a:spcBef>
                <a:spcPts val="400"/>
              </a:spcBef>
              <a:defRPr sz="950">
                <a:solidFill>
                  <a:srgbClr val="94A3B8"/>
                </a:solidFill>
              </a:defRPr>
            </a:pPr>
            <a:r>
              <a:t>Correct vector specs reach print vendors the first time, saving lakhs.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Strict Governance</a:t>
            </a:r>
          </a:p>
          <a:p>
            <a:pPr>
              <a:spcBef>
                <a:spcPts val="400"/>
              </a:spcBef>
              <a:defRPr sz="950">
                <a:solidFill>
                  <a:srgbClr val="94A3B8"/>
                </a:solidFill>
              </a:defRPr>
            </a:pPr>
            <a:r>
              <a:t>Granular page permissions protect intellectual property from leakage.</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OEM Wrap Precision</a:t>
            </a:r>
          </a:p>
          <a:p>
            <a:pPr>
              <a:spcBef>
                <a:spcPts val="400"/>
              </a:spcBef>
              <a:defRPr sz="950">
                <a:solidFill>
                  <a:srgbClr val="94A3B8"/>
                </a:solidFill>
              </a:defRPr>
            </a:pPr>
            <a:r>
              <a:t>Vehicle &amp; charger artwork matched to exact hardware models.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Automated ID Cards</a:t>
            </a:r>
          </a:p>
          <a:p>
            <a:pPr>
              <a:spcBef>
                <a:spcPts val="400"/>
              </a:spcBef>
              <a:defRPr sz="950">
                <a:solidFill>
                  <a:srgbClr val="94A3B8"/>
                </a:solidFill>
              </a:defRPr>
            </a:pPr>
            <a:r>
              <a:t>Instant employee ID cards eliminate reliance on outside graphic designers.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21 of 25  |  Transvolt Mobility Brand Management Portal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21 — BUSINESS VALUE</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Business Value &amp; ROI</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Why This Portal Matters to Transvolt</a:t>
            </a:r>
          </a:p>
          <a:p>
            <a:pPr>
              <a:spcBef>
                <a:spcPts val="800"/>
              </a:spcBef>
              <a:defRPr sz="1100">
                <a:solidFill>
                  <a:srgbClr val="94A3B8"/>
                </a:solidFill>
              </a:defRPr>
            </a:pPr>
            <a:r>
              <a:t>Measurable business impact on operational speed, corporate consistency, legal risk reduction, and long-term brand equity as Transvolt expands nationwide.</a:t>
            </a:r>
          </a:p>
          <a:p>
            <a:pPr>
              <a:spcBef>
                <a:spcPts val="1200"/>
              </a:spcBef>
              <a:defRPr sz="950" b="1">
                <a:solidFill>
                  <a:srgbClr val="22C55E"/>
                </a:solidFill>
              </a:defRPr>
            </a:pPr>
            <a:r>
              <a:t>KEY ATTRIBUTES &amp; PROTOCOLS:</a:t>
            </a:r>
          </a:p>
          <a:p>
            <a:pPr>
              <a:spcBef>
                <a:spcPts val="400"/>
              </a:spcBef>
              <a:defRPr sz="1050">
                <a:solidFill>
                  <a:srgbClr val="E2E8F0"/>
                </a:solidFill>
              </a:defRPr>
            </a:pPr>
            <a:r>
              <a:t>•   Saves hundreds of executive and staff hours spent searching for files</a:t>
            </a:r>
          </a:p>
          <a:p>
            <a:pPr>
              <a:spcBef>
                <a:spcPts val="400"/>
              </a:spcBef>
              <a:defRPr sz="1050">
                <a:solidFill>
                  <a:srgbClr val="E2E8F0"/>
                </a:solidFill>
              </a:defRPr>
            </a:pPr>
            <a:r>
              <a:t>•   Enforces strict brand consistency across all regional transit depots</a:t>
            </a:r>
          </a:p>
          <a:p>
            <a:pPr>
              <a:spcBef>
                <a:spcPts val="400"/>
              </a:spcBef>
              <a:defRPr sz="1050">
                <a:solidFill>
                  <a:srgbClr val="E2E8F0"/>
                </a:solidFill>
              </a:defRPr>
            </a:pPr>
            <a:r>
              <a:t>•   Protects legal entities with verified corporate stationery &amp; CIN details</a:t>
            </a:r>
          </a:p>
          <a:p>
            <a:pPr>
              <a:spcBef>
                <a:spcPts val="400"/>
              </a:spcBef>
              <a:defRPr sz="1050">
                <a:solidFill>
                  <a:srgbClr val="E2E8F0"/>
                </a:solidFill>
              </a:defRPr>
            </a:pPr>
            <a:r>
              <a:t>•   Eliminates costly print and vehicle wrap rework across vendors</a:t>
            </a:r>
          </a:p>
          <a:p>
            <a:pPr>
              <a:spcBef>
                <a:spcPts val="400"/>
              </a:spcBef>
              <a:defRPr sz="1050">
                <a:solidFill>
                  <a:srgbClr val="E2E8F0"/>
                </a:solidFill>
              </a:defRPr>
            </a:pPr>
            <a:r>
              <a:t>•   Scales effortlessly as new cities, transit depots, and OEMs are onboarded</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Saves Hours of Time</a:t>
            </a:r>
          </a:p>
          <a:p>
            <a:pPr>
              <a:spcBef>
                <a:spcPts val="400"/>
              </a:spcBef>
              <a:defRPr sz="950">
                <a:solidFill>
                  <a:srgbClr val="94A3B8"/>
                </a:solidFill>
              </a:defRPr>
            </a:pPr>
            <a:r>
              <a:t>No repeated searches, manual emailing, or creative designer bottlenecks.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Improves Consistency</a:t>
            </a:r>
          </a:p>
          <a:p>
            <a:pPr>
              <a:spcBef>
                <a:spcPts val="400"/>
              </a:spcBef>
              <a:defRPr sz="950">
                <a:solidFill>
                  <a:srgbClr val="94A3B8"/>
                </a:solidFill>
              </a:defRPr>
            </a:pPr>
            <a:r>
              <a:t>Every depot, partner, and vendor uses 100% approved official brand assets.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Strengthens Security</a:t>
            </a:r>
          </a:p>
          <a:p>
            <a:pPr>
              <a:spcBef>
                <a:spcPts val="400"/>
              </a:spcBef>
              <a:defRPr sz="950">
                <a:solidFill>
                  <a:srgbClr val="94A3B8"/>
                </a:solidFill>
              </a:defRPr>
            </a:pPr>
            <a:r>
              <a:t>Strict role-based governance and auto-expiring 6-hour sharing links.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Eliminates Rework</a:t>
            </a:r>
          </a:p>
          <a:p>
            <a:pPr>
              <a:spcBef>
                <a:spcPts val="400"/>
              </a:spcBef>
              <a:defRPr sz="950">
                <a:solidFill>
                  <a:srgbClr val="94A3B8"/>
                </a:solidFill>
              </a:defRPr>
            </a:pPr>
            <a:r>
              <a:t>Correct vector files and color specs reach print presses the first time.</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Zero Outdated Files</a:t>
            </a:r>
          </a:p>
          <a:p>
            <a:pPr>
              <a:spcBef>
                <a:spcPts val="400"/>
              </a:spcBef>
              <a:defRPr sz="950">
                <a:solidFill>
                  <a:srgbClr val="94A3B8"/>
                </a:solidFill>
              </a:defRPr>
            </a:pPr>
            <a:r>
              <a:t>Old versions are locked or archived globally across all depots.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Scales with Growth</a:t>
            </a:r>
          </a:p>
          <a:p>
            <a:pPr>
              <a:spcBef>
                <a:spcPts val="400"/>
              </a:spcBef>
              <a:defRPr sz="950">
                <a:solidFill>
                  <a:srgbClr val="94A3B8"/>
                </a:solidFill>
              </a:defRPr>
            </a:pPr>
            <a:r>
              <a:t>Easily onboard new transit depots, cities, OEMs, and employees.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22 of 25  |  Transvolt Mobility Brand Management Portal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22 — THE 7 PILLARS</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Brand Operating System</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From Brand Library to Brand Operating System</a:t>
            </a:r>
          </a:p>
          <a:p>
            <a:pPr>
              <a:spcBef>
                <a:spcPts val="800"/>
              </a:spcBef>
              <a:defRPr sz="1100">
                <a:solidFill>
                  <a:srgbClr val="94A3B8"/>
                </a:solidFill>
              </a:defRPr>
            </a:pPr>
            <a:r>
              <a:t>The complete lifecycle of how branding and corporate assets are created, verified, governed, and deployed across Transvolt's rapidly growing mobility ecosystem.</a:t>
            </a:r>
          </a:p>
          <a:p>
            <a:pPr>
              <a:spcBef>
                <a:spcPts val="1200"/>
              </a:spcBef>
              <a:defRPr sz="950" b="1">
                <a:solidFill>
                  <a:srgbClr val="22C55E"/>
                </a:solidFill>
              </a:defRPr>
            </a:pPr>
            <a:r>
              <a:t>KEY ATTRIBUTES &amp; PROTOCOLS:</a:t>
            </a:r>
          </a:p>
          <a:p>
            <a:pPr>
              <a:spcBef>
                <a:spcPts val="400"/>
              </a:spcBef>
              <a:defRPr sz="1050">
                <a:solidFill>
                  <a:srgbClr val="E2E8F0"/>
                </a:solidFill>
              </a:defRPr>
            </a:pPr>
            <a:r>
              <a:t>•   Active governance instead of passive cloud storage</a:t>
            </a:r>
          </a:p>
          <a:p>
            <a:pPr>
              <a:spcBef>
                <a:spcPts val="400"/>
              </a:spcBef>
              <a:defRPr sz="1050">
                <a:solidFill>
                  <a:srgbClr val="E2E8F0"/>
                </a:solidFill>
              </a:defRPr>
            </a:pPr>
            <a:r>
              <a:t>•   End-to-end asset lifecycle from upload to vendor press handoff</a:t>
            </a:r>
          </a:p>
          <a:p>
            <a:pPr>
              <a:spcBef>
                <a:spcPts val="400"/>
              </a:spcBef>
              <a:defRPr sz="1050">
                <a:solidFill>
                  <a:srgbClr val="E2E8F0"/>
                </a:solidFill>
              </a:defRPr>
            </a:pPr>
            <a:r>
              <a:t>•   Integrated tools for automated document generation and sharing</a:t>
            </a:r>
          </a:p>
          <a:p>
            <a:pPr>
              <a:spcBef>
                <a:spcPts val="400"/>
              </a:spcBef>
              <a:defRPr sz="1050">
                <a:solidFill>
                  <a:srgbClr val="E2E8F0"/>
                </a:solidFill>
              </a:defRPr>
            </a:pPr>
            <a:r>
              <a:t>•   Dynamic organization by legal entity, regional site, and vehicle OEM</a:t>
            </a:r>
          </a:p>
          <a:p>
            <a:pPr>
              <a:spcBef>
                <a:spcPts val="400"/>
              </a:spcBef>
              <a:defRPr sz="1050">
                <a:solidFill>
                  <a:srgbClr val="E2E8F0"/>
                </a:solidFill>
              </a:defRPr>
            </a:pPr>
            <a:r>
              <a:t>•   Constant audit readiness for corporate governance and legal compliance</a:t>
            </a:r>
          </a:p>
          <a:p>
            <a:pPr>
              <a:spcBef>
                <a:spcPts val="400"/>
              </a:spcBef>
              <a:defRPr sz="1050">
                <a:solidFill>
                  <a:srgbClr val="E2E8F0"/>
                </a:solidFill>
              </a:defRPr>
            </a:pPr>
            <a:r>
              <a:t>•   Built to power Transvolt's multi-state transit operations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01 STORE</a:t>
            </a:r>
          </a:p>
          <a:p>
            <a:pPr>
              <a:spcBef>
                <a:spcPts val="400"/>
              </a:spcBef>
              <a:defRPr sz="950">
                <a:solidFill>
                  <a:srgbClr val="94A3B8"/>
                </a:solidFill>
              </a:defRPr>
            </a:pPr>
            <a:r>
              <a:t>Centralized, secure digital repository for all Transvolt creative assets.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02 ORGANIZE</a:t>
            </a:r>
          </a:p>
          <a:p>
            <a:pPr>
              <a:spcBef>
                <a:spcPts val="400"/>
              </a:spcBef>
              <a:defRPr sz="950">
                <a:solidFill>
                  <a:srgbClr val="94A3B8"/>
                </a:solidFill>
              </a:defRPr>
            </a:pPr>
            <a:r>
              <a:t>Structured hierarchy by company entity, depot site, and media type.</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03 CONTROL</a:t>
            </a:r>
          </a:p>
          <a:p>
            <a:pPr>
              <a:spcBef>
                <a:spcPts val="400"/>
              </a:spcBef>
              <a:defRPr sz="950">
                <a:solidFill>
                  <a:srgbClr val="94A3B8"/>
                </a:solidFill>
              </a:defRPr>
            </a:pPr>
            <a:r>
              <a:t>Granular role-based permissions preventing unauthorized modifications.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04 VERIFY</a:t>
            </a:r>
          </a:p>
          <a:p>
            <a:pPr>
              <a:spcBef>
                <a:spcPts val="400"/>
              </a:spcBef>
              <a:defRPr sz="950">
                <a:solidFill>
                  <a:srgbClr val="94A3B8"/>
                </a:solidFill>
              </a:defRPr>
            </a:pPr>
            <a:r>
              <a:t>Pre-checked vector specs, exact color codes, and legal compliance.</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05 GENERATE</a:t>
            </a:r>
          </a:p>
          <a:p>
            <a:pPr>
              <a:spcBef>
                <a:spcPts val="400"/>
              </a:spcBef>
              <a:defRPr sz="950">
                <a:solidFill>
                  <a:srgbClr val="94A3B8"/>
                </a:solidFill>
              </a:defRPr>
            </a:pPr>
            <a:r>
              <a:t>Automated site-wise ID cards and business cards with zero designer delay.</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06 SHARE</a:t>
            </a:r>
          </a:p>
          <a:p>
            <a:pPr>
              <a:spcBef>
                <a:spcPts val="400"/>
              </a:spcBef>
              <a:defRPr sz="950">
                <a:solidFill>
                  <a:srgbClr val="94A3B8"/>
                </a:solidFill>
              </a:defRPr>
            </a:pPr>
            <a:r>
              <a:t>6-Hour auto-expiring links for safe, leak-free vendor asset handoffs.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23 of 25  |  Transvolt Mobility Brand Management Portal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23 — THE ROAD AHEAD</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Future Roadmap</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Future Roadmap &amp; Technological Evolution</a:t>
            </a:r>
          </a:p>
          <a:p>
            <a:pPr>
              <a:spcBef>
                <a:spcPts val="800"/>
              </a:spcBef>
              <a:defRPr sz="1100">
                <a:solidFill>
                  <a:srgbClr val="94A3B8"/>
                </a:solidFill>
              </a:defRPr>
            </a:pPr>
            <a:r>
              <a:t>Upcoming intelligent capabilities and automated features planned to scale the portal as Transvolt expands into new cities and transit projects nationwide.</a:t>
            </a:r>
          </a:p>
          <a:p>
            <a:pPr>
              <a:spcBef>
                <a:spcPts val="1200"/>
              </a:spcBef>
              <a:defRPr sz="950" b="1">
                <a:solidFill>
                  <a:srgbClr val="22C55E"/>
                </a:solidFill>
              </a:defRPr>
            </a:pPr>
            <a:r>
              <a:t>KEY ATTRIBUTES &amp; PROTOCOLS:</a:t>
            </a:r>
          </a:p>
          <a:p>
            <a:pPr>
              <a:spcBef>
                <a:spcPts val="400"/>
              </a:spcBef>
              <a:defRPr sz="1050">
                <a:solidFill>
                  <a:srgbClr val="E2E8F0"/>
                </a:solidFill>
              </a:defRPr>
            </a:pPr>
            <a:r>
              <a:t>•   AI Smart Search with automated visual tagging and color detection</a:t>
            </a:r>
          </a:p>
          <a:p>
            <a:pPr>
              <a:spcBef>
                <a:spcPts val="400"/>
              </a:spcBef>
              <a:defRPr sz="1050">
                <a:solidFill>
                  <a:srgbClr val="E2E8F0"/>
                </a:solidFill>
              </a:defRPr>
            </a:pPr>
            <a:r>
              <a:t>•   Multi-tier approval workflows for corporate marketing collateral</a:t>
            </a:r>
          </a:p>
          <a:p>
            <a:pPr>
              <a:spcBef>
                <a:spcPts val="400"/>
              </a:spcBef>
              <a:defRPr sz="1050">
                <a:solidFill>
                  <a:srgbClr val="E2E8F0"/>
                </a:solidFill>
              </a:defRPr>
            </a:pPr>
            <a:r>
              <a:t>•   Complete file version history, audit logs, and rollback capabilities</a:t>
            </a:r>
          </a:p>
          <a:p>
            <a:pPr>
              <a:spcBef>
                <a:spcPts val="400"/>
              </a:spcBef>
              <a:defRPr sz="1050">
                <a:solidFill>
                  <a:srgbClr val="E2E8F0"/>
                </a:solidFill>
              </a:defRPr>
            </a:pPr>
            <a:r>
              <a:t>•   Detailed analytics on asset downloads, popular files, and vendor shares</a:t>
            </a:r>
          </a:p>
          <a:p>
            <a:pPr>
              <a:spcBef>
                <a:spcPts val="400"/>
              </a:spcBef>
              <a:defRPr sz="1050">
                <a:solidFill>
                  <a:srgbClr val="E2E8F0"/>
                </a:solidFill>
              </a:defRPr>
            </a:pPr>
            <a:r>
              <a:t>•   Dedicated external vendor sub-portals for certified printers &amp; wrap shops</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AI Visual Search</a:t>
            </a:r>
          </a:p>
          <a:p>
            <a:pPr>
              <a:spcBef>
                <a:spcPts val="400"/>
              </a:spcBef>
              <a:defRPr sz="950">
                <a:solidFill>
                  <a:srgbClr val="94A3B8"/>
                </a:solidFill>
              </a:defRPr>
            </a:pPr>
            <a:r>
              <a:t>Find assets using natural language search and automated visual tags.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Multi-Tier Approvals</a:t>
            </a:r>
          </a:p>
          <a:p>
            <a:pPr>
              <a:spcBef>
                <a:spcPts val="400"/>
              </a:spcBef>
              <a:defRPr sz="950">
                <a:solidFill>
                  <a:srgbClr val="94A3B8"/>
                </a:solidFill>
              </a:defRPr>
            </a:pPr>
            <a:r>
              <a:t>Configurable approval chains from branch managers to Head of Marketing.</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Version Rollback</a:t>
            </a:r>
          </a:p>
          <a:p>
            <a:pPr>
              <a:spcBef>
                <a:spcPts val="400"/>
              </a:spcBef>
              <a:defRPr sz="950">
                <a:solidFill>
                  <a:srgbClr val="94A3B8"/>
                </a:solidFill>
              </a:defRPr>
            </a:pPr>
            <a:r>
              <a:t>Complete change history with 1-click restore for previous asset versions.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Usage Analytics</a:t>
            </a:r>
          </a:p>
          <a:p>
            <a:pPr>
              <a:spcBef>
                <a:spcPts val="400"/>
              </a:spcBef>
              <a:defRPr sz="950">
                <a:solidFill>
                  <a:srgbClr val="94A3B8"/>
                </a:solidFill>
              </a:defRPr>
            </a:pPr>
            <a:r>
              <a:t>Real-time metrics on asset popularity, downloads, and regional depot activity.</a:t>
            </a:r>
          </a:p>
        </p:txBody>
      </p:sp>
      <p:sp>
        <p:nvSpPr>
          <p:cNvPr id="16" name="Rounded Rectangle 15"/>
          <p:cNvSpPr/>
          <p:nvPr/>
        </p:nvSpPr>
        <p:spPr>
          <a:xfrm>
            <a:off x="5897880" y="4672584"/>
            <a:ext cx="2697480" cy="1463040"/>
          </a:xfrm>
          <a:prstGeom prst="roundRect">
            <a:avLst/>
          </a:prstGeom>
          <a:solidFill>
            <a:srgbClr val="161C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5896" y="4782312"/>
            <a:ext cx="2441448" cy="1243584"/>
          </a:xfrm>
          <a:prstGeom prst="rect">
            <a:avLst/>
          </a:prstGeom>
          <a:noFill/>
        </p:spPr>
        <p:txBody>
          <a:bodyPr wrap="square">
            <a:spAutoFit/>
          </a:bodyPr>
          <a:lstStyle/>
          <a:p>
            <a:pPr>
              <a:defRPr sz="1150" b="1">
                <a:solidFill>
                  <a:srgbClr val="FFFFFF"/>
                </a:solidFill>
              </a:defRPr>
            </a:pPr>
            <a:r>
              <a:t>Vendor Sub-Portals</a:t>
            </a:r>
          </a:p>
          <a:p>
            <a:pPr>
              <a:spcBef>
                <a:spcPts val="400"/>
              </a:spcBef>
              <a:defRPr sz="950">
                <a:solidFill>
                  <a:srgbClr val="94A3B8"/>
                </a:solidFill>
              </a:defRPr>
            </a:pPr>
            <a:r>
              <a:t>Dedicated secure portals for certified wrap shops and advertising partners.</a:t>
            </a:r>
          </a:p>
        </p:txBody>
      </p:sp>
      <p:sp>
        <p:nvSpPr>
          <p:cNvPr id="18" name="Rounded Rectangle 17"/>
          <p:cNvSpPr/>
          <p:nvPr/>
        </p:nvSpPr>
        <p:spPr>
          <a:xfrm>
            <a:off x="8759952" y="4672584"/>
            <a:ext cx="2697480" cy="1463040"/>
          </a:xfrm>
          <a:prstGeom prst="roundRect">
            <a:avLst/>
          </a:prstGeom>
          <a:solidFill>
            <a:srgbClr val="161C2A"/>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8" y="4782312"/>
            <a:ext cx="2441448" cy="1243584"/>
          </a:xfrm>
          <a:prstGeom prst="rect">
            <a:avLst/>
          </a:prstGeom>
          <a:noFill/>
        </p:spPr>
        <p:txBody>
          <a:bodyPr wrap="square">
            <a:spAutoFit/>
          </a:bodyPr>
          <a:lstStyle/>
          <a:p>
            <a:pPr>
              <a:defRPr sz="1150" b="1">
                <a:solidFill>
                  <a:srgbClr val="FFFFFF"/>
                </a:solidFill>
              </a:defRPr>
            </a:pPr>
            <a:r>
              <a:t>Auto-Expiry Notices</a:t>
            </a:r>
          </a:p>
          <a:p>
            <a:pPr>
              <a:spcBef>
                <a:spcPts val="400"/>
              </a:spcBef>
              <a:defRPr sz="950">
                <a:solidFill>
                  <a:srgbClr val="94A3B8"/>
                </a:solidFill>
              </a:defRPr>
            </a:pPr>
            <a:r>
              <a:t>Automated alerts when seasonal graphics or temporary contracts expire.</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24 of 25  |  Transvolt Mobility Brand Management Portal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none">
            <a:spAutoFit/>
          </a:bodyPr>
          <a:lstStyle/>
          <a:p>
            <a:pPr>
              <a:defRPr sz="1050" b="1">
                <a:solidFill>
                  <a:srgbClr val="22C55E"/>
                </a:solidFill>
              </a:defRPr>
            </a:pPr>
            <a:r>
              <a:t>24 — THANK YOU</a:t>
            </a:r>
          </a:p>
        </p:txBody>
      </p:sp>
      <p:sp>
        <p:nvSpPr>
          <p:cNvPr id="4" name="TextBox 3"/>
          <p:cNvSpPr txBox="1"/>
          <p:nvPr/>
        </p:nvSpPr>
        <p:spPr>
          <a:xfrm>
            <a:off x="731520" y="594360"/>
            <a:ext cx="7772400" cy="594360"/>
          </a:xfrm>
          <a:prstGeom prst="rect">
            <a:avLst/>
          </a:prstGeom>
          <a:noFill/>
        </p:spPr>
        <p:txBody>
          <a:bodyPr wrap="square">
            <a:spAutoFit/>
          </a:bodyPr>
          <a:lstStyle/>
          <a:p>
            <a:pPr>
              <a:defRPr sz="2200" b="1">
                <a:solidFill>
                  <a:srgbClr val="FFFFFF"/>
                </a:solidFill>
              </a:defRPr>
            </a:pPr>
            <a:r>
              <a:t>Conclusion &amp; Access</a:t>
            </a:r>
          </a:p>
        </p:txBody>
      </p:sp>
      <p:pic>
        <p:nvPicPr>
          <p:cNvPr id="5" name="Picture 4" descr="Logo_White.png"/>
          <p:cNvPicPr>
            <a:picLocks noChangeAspect="1"/>
          </p:cNvPicPr>
          <p:nvPr/>
        </p:nvPicPr>
        <p:blipFill>
          <a:blip r:embed="rId2"/>
          <a:stretch>
            <a:fillRect/>
          </a:stretch>
        </p:blipFill>
        <p:spPr>
          <a:xfrm>
            <a:off x="9601200" y="411480"/>
            <a:ext cx="4847375" cy="502920"/>
          </a:xfrm>
          <a:prstGeom prst="rect">
            <a:avLst/>
          </a:prstGeom>
        </p:spPr>
      </p:pic>
      <p:sp>
        <p:nvSpPr>
          <p:cNvPr id="6" name="Rectangle 5"/>
          <p:cNvSpPr/>
          <p:nvPr/>
        </p:nvSpPr>
        <p:spPr>
          <a:xfrm>
            <a:off x="731520" y="123444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4846320" cy="4846320"/>
          </a:xfrm>
          <a:prstGeom prst="rect">
            <a:avLst/>
          </a:prstGeom>
          <a:noFill/>
        </p:spPr>
        <p:txBody>
          <a:bodyPr wrap="square">
            <a:spAutoFit/>
          </a:bodyPr>
          <a:lstStyle/>
          <a:p>
            <a:pPr>
              <a:defRPr sz="1600" b="1">
                <a:solidFill>
                  <a:srgbClr val="06B6D4"/>
                </a:solidFill>
              </a:defRPr>
            </a:pPr>
            <a:r>
              <a:t>One Platform. One Trusted Source. One Transvolt Brand.</a:t>
            </a:r>
          </a:p>
          <a:p>
            <a:pPr>
              <a:spcBef>
                <a:spcPts val="800"/>
              </a:spcBef>
              <a:defRPr sz="1100">
                <a:solidFill>
                  <a:srgbClr val="94A3B8"/>
                </a:solidFill>
              </a:defRPr>
            </a:pPr>
            <a:r>
              <a:t>Moving Forward. Powering a Cleaner Future. The Transvolt Brand Management Portal guarantees brand consistency, security, and operational efficiency across all transit depots and corporate divisions.</a:t>
            </a:r>
          </a:p>
          <a:p>
            <a:pPr>
              <a:spcBef>
                <a:spcPts val="1200"/>
              </a:spcBef>
              <a:defRPr sz="950" b="1">
                <a:solidFill>
                  <a:srgbClr val="22C55E"/>
                </a:solidFill>
              </a:defRPr>
            </a:pPr>
            <a:r>
              <a:t>KEY ATTRIBUTES &amp; PROTOCOLS:</a:t>
            </a:r>
          </a:p>
          <a:p>
            <a:pPr>
              <a:spcBef>
                <a:spcPts val="400"/>
              </a:spcBef>
              <a:defRPr sz="1050">
                <a:solidFill>
                  <a:srgbClr val="E2E8F0"/>
                </a:solidFill>
              </a:defRPr>
            </a:pPr>
            <a:r>
              <a:t>•   Find the right information instantly across all categories</a:t>
            </a:r>
          </a:p>
          <a:p>
            <a:pPr>
              <a:spcBef>
                <a:spcPts val="400"/>
              </a:spcBef>
              <a:defRPr sz="1050">
                <a:solidFill>
                  <a:srgbClr val="E2E8F0"/>
                </a:solidFill>
              </a:defRPr>
            </a:pPr>
            <a:r>
              <a:t>•   Verify the right asset with 100% loss-free vector standards</a:t>
            </a:r>
          </a:p>
          <a:p>
            <a:pPr>
              <a:spcBef>
                <a:spcPts val="400"/>
              </a:spcBef>
              <a:defRPr sz="1050">
                <a:solidFill>
                  <a:srgbClr val="E2E8F0"/>
                </a:solidFill>
              </a:defRPr>
            </a:pPr>
            <a:r>
              <a:t>•   Share the right file with auto-expiring 6-hour links</a:t>
            </a:r>
          </a:p>
          <a:p>
            <a:pPr>
              <a:spcBef>
                <a:spcPts val="400"/>
              </a:spcBef>
              <a:defRPr sz="1050">
                <a:solidFill>
                  <a:srgbClr val="E2E8F0"/>
                </a:solidFill>
              </a:defRPr>
            </a:pPr>
            <a:r>
              <a:t>•   Manage site-wise employee credentials &amp; official ID badges</a:t>
            </a:r>
          </a:p>
          <a:p>
            <a:pPr>
              <a:spcBef>
                <a:spcPts val="400"/>
              </a:spcBef>
              <a:defRPr sz="1050">
                <a:solidFill>
                  <a:srgbClr val="E2E8F0"/>
                </a:solidFill>
              </a:defRPr>
            </a:pPr>
            <a:r>
              <a:t>•   Powering zero-emission electric mobility across India</a:t>
            </a:r>
          </a:p>
        </p:txBody>
      </p:sp>
      <p:sp>
        <p:nvSpPr>
          <p:cNvPr id="8" name="Rounded Rectangle 7"/>
          <p:cNvSpPr/>
          <p:nvPr/>
        </p:nvSpPr>
        <p:spPr>
          <a:xfrm>
            <a:off x="5897880" y="1417320"/>
            <a:ext cx="2697480" cy="1463040"/>
          </a:xfrm>
          <a:prstGeom prst="roundRect">
            <a:avLst/>
          </a:prstGeom>
          <a:solidFill>
            <a:srgbClr val="161C2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5896" y="1527048"/>
            <a:ext cx="2441448" cy="1243584"/>
          </a:xfrm>
          <a:prstGeom prst="rect">
            <a:avLst/>
          </a:prstGeom>
          <a:noFill/>
        </p:spPr>
        <p:txBody>
          <a:bodyPr wrap="square">
            <a:spAutoFit/>
          </a:bodyPr>
          <a:lstStyle/>
          <a:p>
            <a:pPr>
              <a:defRPr sz="1150" b="1">
                <a:solidFill>
                  <a:srgbClr val="FFFFFF"/>
                </a:solidFill>
              </a:defRPr>
            </a:pPr>
            <a:r>
              <a:t>Brand Governance</a:t>
            </a:r>
          </a:p>
          <a:p>
            <a:pPr>
              <a:spcBef>
                <a:spcPts val="400"/>
              </a:spcBef>
              <a:defRPr sz="950">
                <a:solidFill>
                  <a:srgbClr val="94A3B8"/>
                </a:solidFill>
              </a:defRPr>
            </a:pPr>
            <a:r>
              <a:t>Eliminate unauthorized logos, altered colors, and outdated typography across all channels.</a:t>
            </a:r>
          </a:p>
        </p:txBody>
      </p:sp>
      <p:sp>
        <p:nvSpPr>
          <p:cNvPr id="10" name="Rounded Rectangle 9"/>
          <p:cNvSpPr/>
          <p:nvPr/>
        </p:nvSpPr>
        <p:spPr>
          <a:xfrm>
            <a:off x="8759952" y="1417320"/>
            <a:ext cx="2697480" cy="1463040"/>
          </a:xfrm>
          <a:prstGeom prst="roundRect">
            <a:avLst/>
          </a:prstGeom>
          <a:solidFill>
            <a:srgbClr val="161C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1527048"/>
            <a:ext cx="2441448" cy="1243584"/>
          </a:xfrm>
          <a:prstGeom prst="rect">
            <a:avLst/>
          </a:prstGeom>
          <a:noFill/>
        </p:spPr>
        <p:txBody>
          <a:bodyPr wrap="square">
            <a:spAutoFit/>
          </a:bodyPr>
          <a:lstStyle/>
          <a:p>
            <a:pPr>
              <a:defRPr sz="1150" b="1">
                <a:solidFill>
                  <a:srgbClr val="FFFFFF"/>
                </a:solidFill>
              </a:defRPr>
            </a:pPr>
            <a:r>
              <a:t>Fast Self-Service</a:t>
            </a:r>
          </a:p>
          <a:p>
            <a:pPr>
              <a:spcBef>
                <a:spcPts val="400"/>
              </a:spcBef>
              <a:defRPr sz="950">
                <a:solidFill>
                  <a:srgbClr val="94A3B8"/>
                </a:solidFill>
              </a:defRPr>
            </a:pPr>
            <a:r>
              <a:t>Immediate access for depot managers, marketing teams, and creative partners.</a:t>
            </a:r>
          </a:p>
        </p:txBody>
      </p:sp>
      <p:sp>
        <p:nvSpPr>
          <p:cNvPr id="12" name="Rounded Rectangle 11"/>
          <p:cNvSpPr/>
          <p:nvPr/>
        </p:nvSpPr>
        <p:spPr>
          <a:xfrm>
            <a:off x="5897880" y="3044952"/>
            <a:ext cx="2697480" cy="1463040"/>
          </a:xfrm>
          <a:prstGeom prst="roundRect">
            <a:avLst/>
          </a:prstGeom>
          <a:solidFill>
            <a:srgbClr val="161C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3154680"/>
            <a:ext cx="2441448" cy="1243584"/>
          </a:xfrm>
          <a:prstGeom prst="rect">
            <a:avLst/>
          </a:prstGeom>
          <a:noFill/>
        </p:spPr>
        <p:txBody>
          <a:bodyPr wrap="square">
            <a:spAutoFit/>
          </a:bodyPr>
          <a:lstStyle/>
          <a:p>
            <a:pPr>
              <a:defRPr sz="1150" b="1">
                <a:solidFill>
                  <a:srgbClr val="FFFFFF"/>
                </a:solidFill>
              </a:defRPr>
            </a:pPr>
            <a:r>
              <a:t>Enterprise Security</a:t>
            </a:r>
          </a:p>
          <a:p>
            <a:pPr>
              <a:spcBef>
                <a:spcPts val="400"/>
              </a:spcBef>
              <a:defRPr sz="950">
                <a:solidFill>
                  <a:srgbClr val="94A3B8"/>
                </a:solidFill>
              </a:defRPr>
            </a:pPr>
            <a:r>
              <a:t>Protect intellectual property with audited, time-limited vendor access packages.</a:t>
            </a:r>
          </a:p>
        </p:txBody>
      </p:sp>
      <p:sp>
        <p:nvSpPr>
          <p:cNvPr id="14" name="Rounded Rectangle 13"/>
          <p:cNvSpPr/>
          <p:nvPr/>
        </p:nvSpPr>
        <p:spPr>
          <a:xfrm>
            <a:off x="8759952" y="3044952"/>
            <a:ext cx="2697480" cy="1463040"/>
          </a:xfrm>
          <a:prstGeom prst="roundRect">
            <a:avLst/>
          </a:prstGeom>
          <a:solidFill>
            <a:srgbClr val="161C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154680"/>
            <a:ext cx="2441448" cy="1243584"/>
          </a:xfrm>
          <a:prstGeom prst="rect">
            <a:avLst/>
          </a:prstGeom>
          <a:noFill/>
        </p:spPr>
        <p:txBody>
          <a:bodyPr wrap="square">
            <a:spAutoFit/>
          </a:bodyPr>
          <a:lstStyle/>
          <a:p>
            <a:pPr>
              <a:defRPr sz="1150" b="1">
                <a:solidFill>
                  <a:srgbClr val="FFFFFF"/>
                </a:solidFill>
              </a:defRPr>
            </a:pPr>
            <a:r>
              <a:t>Scale Ready</a:t>
            </a:r>
          </a:p>
          <a:p>
            <a:pPr>
              <a:spcBef>
                <a:spcPts val="400"/>
              </a:spcBef>
              <a:defRPr sz="950">
                <a:solidFill>
                  <a:srgbClr val="94A3B8"/>
                </a:solidFill>
              </a:defRPr>
            </a:pPr>
            <a:r>
              <a:t>Built to expand seamlessly as Transvolt scales thousands of commercial EVs nationwide.</a:t>
            </a:r>
          </a:p>
        </p:txBody>
      </p:sp>
      <p:sp>
        <p:nvSpPr>
          <p:cNvPr id="16" name="TextBox 15"/>
          <p:cNvSpPr txBox="1"/>
          <p:nvPr/>
        </p:nvSpPr>
        <p:spPr>
          <a:xfrm>
            <a:off x="731520" y="6446520"/>
            <a:ext cx="10728655" cy="274320"/>
          </a:xfrm>
          <a:prstGeom prst="rect">
            <a:avLst/>
          </a:prstGeom>
          <a:noFill/>
        </p:spPr>
        <p:txBody>
          <a:bodyPr wrap="none">
            <a:spAutoFit/>
          </a:bodyPr>
          <a:lstStyle/>
          <a:p>
            <a:pPr>
              <a:defRPr sz="900">
                <a:solidFill>
                  <a:srgbClr val="475569"/>
                </a:solidFill>
              </a:defRPr>
            </a:pPr>
            <a:r>
              <a:t>Slide 25 of 25  |  Transvolt Mobility Brand Management Portal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