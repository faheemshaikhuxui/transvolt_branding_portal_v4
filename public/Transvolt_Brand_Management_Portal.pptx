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6858000" cx="12192000"/>
  <p:notesSz cx="6858000" cy="9144000"/>
  <p:embeddedFontLst>
    <p:embeddedFont>
      <p:font typeface="Poppins"/>
      <p:regular r:id="rId22"/>
      <p:bold r:id="rId23"/>
      <p:italic r:id="rId24"/>
      <p:boldItalic r:id="rId25"/>
    </p:embeddedFont>
    <p:embeddedFont>
      <p:font typeface="Urbanist Medium"/>
      <p:regular r:id="rId26"/>
      <p:bold r:id="rId27"/>
      <p:italic r:id="rId28"/>
      <p:boldItalic r:id="rId29"/>
    </p:embeddedFont>
    <p:embeddedFont>
      <p:font typeface="Urbanist SemiBold"/>
      <p:regular r:id="rId30"/>
      <p:bold r:id="rId31"/>
      <p:italic r:id="rId32"/>
      <p:boldItalic r:id="rId33"/>
    </p:embeddedFont>
    <p:embeddedFont>
      <p:font typeface="Urbanist"/>
      <p:regular r:id="rId34"/>
      <p:bold r:id="rId35"/>
      <p:italic r:id="rId36"/>
      <p:boldItalic r:id="rId37"/>
    </p:embeddedFont>
    <p:embeddedFont>
      <p:font typeface="Poppins SemiBold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F0A929-4964-4C0A-B5D0-61B2BCEA5565}">
  <a:tblStyle styleId="{87F0A929-4964-4C0A-B5D0-61B2BCEA556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oppinsSemiBold-italic.fntdata"/><Relationship Id="rId20" Type="http://schemas.openxmlformats.org/officeDocument/2006/relationships/slide" Target="slides/slide14.xml"/><Relationship Id="rId41" Type="http://schemas.openxmlformats.org/officeDocument/2006/relationships/font" Target="fonts/PoppinsSemiBold-boldItalic.fntdata"/><Relationship Id="rId22" Type="http://schemas.openxmlformats.org/officeDocument/2006/relationships/font" Target="fonts/Poppins-regular.fntdata"/><Relationship Id="rId21" Type="http://schemas.openxmlformats.org/officeDocument/2006/relationships/slide" Target="slides/slide15.xml"/><Relationship Id="rId24" Type="http://schemas.openxmlformats.org/officeDocument/2006/relationships/font" Target="fonts/Poppins-italic.fntdata"/><Relationship Id="rId23" Type="http://schemas.openxmlformats.org/officeDocument/2006/relationships/font" Target="fonts/Poppi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UrbanistMedium-regular.fntdata"/><Relationship Id="rId25" Type="http://schemas.openxmlformats.org/officeDocument/2006/relationships/font" Target="fonts/Poppins-boldItalic.fntdata"/><Relationship Id="rId28" Type="http://schemas.openxmlformats.org/officeDocument/2006/relationships/font" Target="fonts/UrbanistMedium-italic.fntdata"/><Relationship Id="rId27" Type="http://schemas.openxmlformats.org/officeDocument/2006/relationships/font" Target="fonts/UrbanistMedium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UrbanistMedium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UrbanistSemiBold-bold.fntdata"/><Relationship Id="rId30" Type="http://schemas.openxmlformats.org/officeDocument/2006/relationships/font" Target="fonts/UrbanistSemiBold-regular.fntdata"/><Relationship Id="rId11" Type="http://schemas.openxmlformats.org/officeDocument/2006/relationships/slide" Target="slides/slide5.xml"/><Relationship Id="rId33" Type="http://schemas.openxmlformats.org/officeDocument/2006/relationships/font" Target="fonts/UrbanistSemiBold-boldItalic.fntdata"/><Relationship Id="rId10" Type="http://schemas.openxmlformats.org/officeDocument/2006/relationships/slide" Target="slides/slide4.xml"/><Relationship Id="rId32" Type="http://schemas.openxmlformats.org/officeDocument/2006/relationships/font" Target="fonts/UrbanistSemiBold-italic.fntdata"/><Relationship Id="rId13" Type="http://schemas.openxmlformats.org/officeDocument/2006/relationships/slide" Target="slides/slide7.xml"/><Relationship Id="rId35" Type="http://schemas.openxmlformats.org/officeDocument/2006/relationships/font" Target="fonts/Urbanist-bold.fntdata"/><Relationship Id="rId12" Type="http://schemas.openxmlformats.org/officeDocument/2006/relationships/slide" Target="slides/slide6.xml"/><Relationship Id="rId34" Type="http://schemas.openxmlformats.org/officeDocument/2006/relationships/font" Target="fonts/Urbanist-regular.fntdata"/><Relationship Id="rId15" Type="http://schemas.openxmlformats.org/officeDocument/2006/relationships/slide" Target="slides/slide9.xml"/><Relationship Id="rId37" Type="http://schemas.openxmlformats.org/officeDocument/2006/relationships/font" Target="fonts/Urbanist-boldItalic.fntdata"/><Relationship Id="rId14" Type="http://schemas.openxmlformats.org/officeDocument/2006/relationships/slide" Target="slides/slide8.xml"/><Relationship Id="rId36" Type="http://schemas.openxmlformats.org/officeDocument/2006/relationships/font" Target="fonts/Urbanist-italic.fntdata"/><Relationship Id="rId17" Type="http://schemas.openxmlformats.org/officeDocument/2006/relationships/slide" Target="slides/slide11.xml"/><Relationship Id="rId39" Type="http://schemas.openxmlformats.org/officeDocument/2006/relationships/font" Target="fonts/PoppinsSemiBold-bold.fntdata"/><Relationship Id="rId16" Type="http://schemas.openxmlformats.org/officeDocument/2006/relationships/slide" Target="slides/slide10.xml"/><Relationship Id="rId38" Type="http://schemas.openxmlformats.org/officeDocument/2006/relationships/font" Target="fonts/PoppinsSemiBold-regular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10" Type="http://schemas.openxmlformats.org/officeDocument/2006/relationships/image" Target="../media/image12.png"/><Relationship Id="rId9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11" Type="http://schemas.openxmlformats.org/officeDocument/2006/relationships/image" Target="../media/image19.png"/><Relationship Id="rId10" Type="http://schemas.openxmlformats.org/officeDocument/2006/relationships/image" Target="../media/image20.png"/><Relationship Id="rId12" Type="http://schemas.openxmlformats.org/officeDocument/2006/relationships/image" Target="../media/image21.png"/><Relationship Id="rId9" Type="http://schemas.openxmlformats.org/officeDocument/2006/relationships/image" Target="../media/image18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29.png"/><Relationship Id="rId10" Type="http://schemas.openxmlformats.org/officeDocument/2006/relationships/image" Target="../media/image27.png"/><Relationship Id="rId13" Type="http://schemas.openxmlformats.org/officeDocument/2006/relationships/image" Target="../media/image30.png"/><Relationship Id="rId1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2.png"/><Relationship Id="rId9" Type="http://schemas.openxmlformats.org/officeDocument/2006/relationships/image" Target="../media/image2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6.png"/><Relationship Id="rId8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image" Target="../media/image38.png"/><Relationship Id="rId10" Type="http://schemas.openxmlformats.org/officeDocument/2006/relationships/image" Target="../media/image37.png"/><Relationship Id="rId13" Type="http://schemas.openxmlformats.org/officeDocument/2006/relationships/image" Target="../media/image41.png"/><Relationship Id="rId1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9" Type="http://schemas.openxmlformats.org/officeDocument/2006/relationships/image" Target="../media/image40.png"/><Relationship Id="rId15" Type="http://schemas.openxmlformats.org/officeDocument/2006/relationships/image" Target="../media/image43.png"/><Relationship Id="rId14" Type="http://schemas.openxmlformats.org/officeDocument/2006/relationships/image" Target="../media/image42.png"/><Relationship Id="rId17" Type="http://schemas.openxmlformats.org/officeDocument/2006/relationships/image" Target="../media/image44.png"/><Relationship Id="rId16" Type="http://schemas.openxmlformats.org/officeDocument/2006/relationships/image" Target="../media/image45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53.png"/><Relationship Id="rId10" Type="http://schemas.openxmlformats.org/officeDocument/2006/relationships/image" Target="../media/image52.png"/><Relationship Id="rId13" Type="http://schemas.openxmlformats.org/officeDocument/2006/relationships/image" Target="../media/image55.png"/><Relationship Id="rId1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6.png"/><Relationship Id="rId9" Type="http://schemas.openxmlformats.org/officeDocument/2006/relationships/image" Target="../media/image50.png"/><Relationship Id="rId14" Type="http://schemas.openxmlformats.org/officeDocument/2006/relationships/image" Target="../media/image58.png"/><Relationship Id="rId5" Type="http://schemas.openxmlformats.org/officeDocument/2006/relationships/image" Target="../media/image51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3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74.png"/><Relationship Id="rId10" Type="http://schemas.openxmlformats.org/officeDocument/2006/relationships/image" Target="../media/image68.png"/><Relationship Id="rId13" Type="http://schemas.openxmlformats.org/officeDocument/2006/relationships/image" Target="../media/image75.png"/><Relationship Id="rId1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6.png"/><Relationship Id="rId9" Type="http://schemas.openxmlformats.org/officeDocument/2006/relationships/image" Target="../media/image69.png"/><Relationship Id="rId14" Type="http://schemas.openxmlformats.org/officeDocument/2006/relationships/image" Target="../media/image72.png"/><Relationship Id="rId5" Type="http://schemas.openxmlformats.org/officeDocument/2006/relationships/image" Target="../media/image60.png"/><Relationship Id="rId6" Type="http://schemas.openxmlformats.org/officeDocument/2006/relationships/image" Target="../media/image10.png"/><Relationship Id="rId7" Type="http://schemas.openxmlformats.org/officeDocument/2006/relationships/image" Target="../media/image67.png"/><Relationship Id="rId8" Type="http://schemas.openxmlformats.org/officeDocument/2006/relationships/image" Target="../media/image7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71.png"/><Relationship Id="rId5" Type="http://schemas.openxmlformats.org/officeDocument/2006/relationships/image" Target="../media/image73.png"/><Relationship Id="rId6" Type="http://schemas.openxmlformats.org/officeDocument/2006/relationships/image" Target="../media/image76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85.png"/><Relationship Id="rId10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77.png"/><Relationship Id="rId9" Type="http://schemas.openxmlformats.org/officeDocument/2006/relationships/image" Target="../media/image84.png"/><Relationship Id="rId5" Type="http://schemas.openxmlformats.org/officeDocument/2006/relationships/image" Target="../media/image80.png"/><Relationship Id="rId6" Type="http://schemas.openxmlformats.org/officeDocument/2006/relationships/image" Target="../media/image78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12.xml.rels><?xml version="1.0" encoding="UTF-8" standalone="yes"?><Relationships xmlns="http://schemas.openxmlformats.org/package/2006/relationships"><Relationship Id="rId11" Type="http://schemas.openxmlformats.org/officeDocument/2006/relationships/image" Target="../media/image89.png"/><Relationship Id="rId10" Type="http://schemas.openxmlformats.org/officeDocument/2006/relationships/image" Target="../media/image87.png"/><Relationship Id="rId13" Type="http://schemas.openxmlformats.org/officeDocument/2006/relationships/image" Target="../media/image88.png"/><Relationship Id="rId1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86.png"/><Relationship Id="rId9" Type="http://schemas.openxmlformats.org/officeDocument/2006/relationships/image" Target="../media/image18.png"/><Relationship Id="rId15" Type="http://schemas.openxmlformats.org/officeDocument/2006/relationships/image" Target="../media/image91.png"/><Relationship Id="rId14" Type="http://schemas.openxmlformats.org/officeDocument/2006/relationships/image" Target="../media/image9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3.xml.rels><?xml version="1.0" encoding="UTF-8" standalone="yes"?><Relationships xmlns="http://schemas.openxmlformats.org/package/2006/relationships"><Relationship Id="rId11" Type="http://schemas.openxmlformats.org/officeDocument/2006/relationships/image" Target="../media/image98.png"/><Relationship Id="rId10" Type="http://schemas.openxmlformats.org/officeDocument/2006/relationships/image" Target="../media/image102.png"/><Relationship Id="rId13" Type="http://schemas.openxmlformats.org/officeDocument/2006/relationships/image" Target="../media/image100.png"/><Relationship Id="rId1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Relationship Id="rId15" Type="http://schemas.openxmlformats.org/officeDocument/2006/relationships/image" Target="../media/image103.png"/><Relationship Id="rId14" Type="http://schemas.openxmlformats.org/officeDocument/2006/relationships/image" Target="../media/image106.png"/><Relationship Id="rId17" Type="http://schemas.openxmlformats.org/officeDocument/2006/relationships/image" Target="../media/image111.png"/><Relationship Id="rId16" Type="http://schemas.openxmlformats.org/officeDocument/2006/relationships/image" Target="../media/image105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18" Type="http://schemas.openxmlformats.org/officeDocument/2006/relationships/image" Target="../media/image104.png"/><Relationship Id="rId7" Type="http://schemas.openxmlformats.org/officeDocument/2006/relationships/image" Target="../media/image96.png"/><Relationship Id="rId8" Type="http://schemas.openxmlformats.org/officeDocument/2006/relationships/image" Target="../media/image9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1993" y="1741289"/>
            <a:ext cx="3148012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040618" y="2293739"/>
            <a:ext cx="6110763" cy="1279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TRANSVOLT BRAND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42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MANAGEMENT PORTAL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695700" y="3745110"/>
            <a:ext cx="4800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One Platform. One Trusted Source for Transvolt Branding.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857500" y="4164210"/>
            <a:ext cx="6477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 centralized platform to manage, access, verify, generate, share, and control approved brand assets, corporate information, and mobility infrastructure resources.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057775" y="4973835"/>
            <a:ext cx="36099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 CLEAN MOBILITY  ROLE-BASED ACCESS  MULTI-ENTITY CONTROL</a:t>
            </a:r>
            <a:endParaRPr/>
          </a:p>
        </p:txBody>
      </p:sp>
      <p:pic>
        <p:nvPicPr>
          <p:cNvPr descr="image.png" id="90" name="Google Shape;9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24250" y="4983360"/>
            <a:ext cx="11430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57775" y="4983360"/>
            <a:ext cx="133350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2" name="Google Shape;92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96100" y="4983360"/>
            <a:ext cx="133350" cy="12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7" name="Google Shape;9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73385"/>
            <a:ext cx="5381625" cy="37071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1373385"/>
            <a:ext cx="5381625" cy="37071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6775" y="2835026"/>
            <a:ext cx="479107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3886348"/>
            <a:ext cx="479107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34150" y="2835026"/>
            <a:ext cx="479107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34150" y="3886348"/>
            <a:ext cx="4791075" cy="89892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866775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F8717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Decentralized Complexity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66775" y="2015876"/>
            <a:ext cx="479107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As Transvolt expands across multiple states, operating companies, depot sites, EV projects, OEMs, stakeholders, and vendors, asset management becomes increasingly vulnerable to fragmentation.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6534150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4ADE80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The Central Solution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6534150" y="2015876"/>
            <a:ext cx="479107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 single, controlled ecosystem designed to resolve practical operational challenges through definitive governance and automated workflows.</a:t>
            </a:r>
            <a:endParaRPr/>
          </a:p>
        </p:txBody>
      </p:sp>
      <p:pic>
        <p:nvPicPr>
          <p:cNvPr descr="image.png" id="108" name="Google Shape;108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6775" y="1678185"/>
            <a:ext cx="1809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34150" y="1678185"/>
            <a:ext cx="1809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1085850" y="2987426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Uncontrolled File Versions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1085850" y="3208287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Inconsistent logos, outdated letterheads, and unauthorized color codes shared across channels.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1085850" y="4038748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Production &amp; Fleet Rework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1085850" y="4259609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Dimensional errors and improper artwork applied on vehicles and charging hardware.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6753225" y="2987426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Single Source of Truth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753225" y="3208287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Every internal team member and external vendor draws from verified, up-to-date brand standards.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753225" y="4038748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Time-Bounded Governance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753225" y="4259609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Precise permission levels and temporary file access ensure security and operational agility.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OPERATIONAL CHALLENGES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Why This Portal?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4" name="Google Shape;12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657451"/>
            <a:ext cx="11049000" cy="5000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373385"/>
            <a:ext cx="3530500" cy="20554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30600" y="1373385"/>
            <a:ext cx="3530649" cy="20554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89850" y="1373385"/>
            <a:ext cx="3530500" cy="205546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809625" y="3800326"/>
            <a:ext cx="10572750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E2E8F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Core Mandate: </a:t>
            </a:r>
            <a:r>
              <a:rPr b="1" i="0" lang="en-US" sz="112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Find it. Verify it. Use it. Share it.</a:t>
            </a:r>
            <a:r>
              <a:rPr b="0" i="0" lang="en-US" sz="1125" u="none" cap="none" strike="noStrike">
                <a:solidFill>
                  <a:srgbClr val="E2E8F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— All in One Controlled Place.</a:t>
            </a:r>
            <a:endParaRPr/>
          </a:p>
        </p:txBody>
      </p:sp>
      <p:pic>
        <p:nvPicPr>
          <p:cNvPr descr="image.png" id="130" name="Google Shape;130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867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5"/>
          <p:cNvSpPr txBox="1"/>
          <p:nvPr/>
        </p:nvSpPr>
        <p:spPr>
          <a:xfrm>
            <a:off x="828675" y="2259210"/>
            <a:ext cx="3166958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Brand Identity &amp; Data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828675" y="2571601"/>
            <a:ext cx="30161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Official logos in all production formats, color formulations, typography hierarchies, and site-wise corporate entity data.</a:t>
            </a:r>
            <a:endParaRPr/>
          </a:p>
        </p:txBody>
      </p:sp>
      <p:pic>
        <p:nvPicPr>
          <p:cNvPr descr="image.png" id="133" name="Google Shape;133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8777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4587775" y="2259210"/>
            <a:ext cx="3167114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Mobility &amp; Infrastructure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4587775" y="2571601"/>
            <a:ext cx="3016299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OEM-specific artwork for EV fleets, chargers, and high-voltage depot assets engineered to exact physical dimensions.</a:t>
            </a:r>
            <a:endParaRPr/>
          </a:p>
        </p:txBody>
      </p:sp>
      <p:pic>
        <p:nvPicPr>
          <p:cNvPr descr="image.png" id="136" name="Google Shape;13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4702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5"/>
          <p:cNvSpPr txBox="1"/>
          <p:nvPr/>
        </p:nvSpPr>
        <p:spPr>
          <a:xfrm>
            <a:off x="8347025" y="2259210"/>
            <a:ext cx="3166958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Controlled Sharing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8347025" y="2571601"/>
            <a:ext cx="30161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Granular page-level permissions, site-wise structures, automated ID generation, and 6-hour expiring vendor links.</a:t>
            </a:r>
            <a:endParaRPr/>
          </a:p>
        </p:txBody>
      </p:sp>
      <p:pic>
        <p:nvPicPr>
          <p:cNvPr descr="image.png" id="139" name="Google Shape;139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52500" y="175438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683025" y="1754385"/>
            <a:ext cx="2667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85137" y="1754385"/>
            <a:ext cx="18097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ECOSYSTEM OVERVIEW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The Core Brand Ecosystem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8" name="Google Shape;14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9" name="Google Shape;149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1373385"/>
            <a:ext cx="5381625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373385"/>
            <a:ext cx="538162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424707"/>
            <a:ext cx="538162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3476029"/>
            <a:ext cx="538162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" y="4508301"/>
            <a:ext cx="9906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657350" y="4508301"/>
            <a:ext cx="9715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724150" y="4508301"/>
            <a:ext cx="11715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990975" y="4508301"/>
            <a:ext cx="1447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248400" y="1382910"/>
            <a:ext cx="5362575" cy="455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790575" y="1525785"/>
            <a:ext cx="5220652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Brand Philosophy: Green &amp; Blue Arrows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790575" y="1746646"/>
            <a:ext cx="49720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Symbolizes zero-emission mobility, continuous clean progress, sustainability, and the future energy transition powering Transvolt.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790575" y="2577107"/>
            <a:ext cx="5220652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Approved Logo Repository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790575" y="2797968"/>
            <a:ext cx="49720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Vector and high-resolution master assets in JPG, PNG, SVG, PDF, and CDR with clear-space rules and protective boundaries.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790575" y="3628429"/>
            <a:ext cx="5220652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Typography System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790575" y="3849290"/>
            <a:ext cx="49720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Poppins:</a:t>
            </a: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Primary brand typography for marketing, digital, and visual graphics.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Calibri:</a:t>
            </a: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Official hierarchy for business correspondence.</a:t>
            </a:r>
            <a:endParaRPr/>
          </a:p>
        </p:txBody>
      </p:sp>
      <p:pic>
        <p:nvPicPr>
          <p:cNvPr descr="image.png" id="164" name="Google Shape;164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14375" y="4584501"/>
            <a:ext cx="1047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800225" y="4584501"/>
            <a:ext cx="1047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2867025" y="4584501"/>
            <a:ext cx="10477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133850" y="4584501"/>
            <a:ext cx="1047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6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BRAND IDENTITY STANDARDS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Official Brand Identity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4" name="Google Shape;17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73385"/>
            <a:ext cx="3530500" cy="25507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0600" y="1373385"/>
            <a:ext cx="3530649" cy="25507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9850" y="1373385"/>
            <a:ext cx="3530500" cy="25507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867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7"/>
          <p:cNvSpPr txBox="1"/>
          <p:nvPr/>
        </p:nvSpPr>
        <p:spPr>
          <a:xfrm>
            <a:off x="828675" y="2259210"/>
            <a:ext cx="3166958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Multi-Entity Letterheads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828675" y="2571601"/>
            <a:ext cx="30161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Transvolt operates through multiple legal entities, each demanding distinct corporate information, CIN, and GST details.</a:t>
            </a:r>
            <a:endParaRPr/>
          </a:p>
        </p:txBody>
      </p:sp>
      <p:pic>
        <p:nvPicPr>
          <p:cNvPr descr="image.png" id="181" name="Google Shape;181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8777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4587775" y="2259210"/>
            <a:ext cx="3167114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ID &amp; Business Cards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4587775" y="2571601"/>
            <a:ext cx="3016299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Maintains employee data site-wise with automated generation of print-ready employee ID cards and visiting cards.</a:t>
            </a:r>
            <a:endParaRPr/>
          </a:p>
        </p:txBody>
      </p:sp>
      <p:pic>
        <p:nvPicPr>
          <p:cNvPr descr="image.png" id="184" name="Google Shape;184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4702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7"/>
          <p:cNvSpPr txBox="1"/>
          <p:nvPr/>
        </p:nvSpPr>
        <p:spPr>
          <a:xfrm>
            <a:off x="8347025" y="2259210"/>
            <a:ext cx="3166958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Corporate PPT System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8347025" y="2571601"/>
            <a:ext cx="30161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Pre-approved slide decks, master layouts, data visualization palettes, and structured templates for consistent executive presence.</a:t>
            </a:r>
            <a:endParaRPr/>
          </a:p>
        </p:txBody>
      </p:sp>
      <p:pic>
        <p:nvPicPr>
          <p:cNvPr descr="image.png" id="187" name="Google Shape;187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76312" y="1754385"/>
            <a:ext cx="1619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28675" y="3400276"/>
            <a:ext cx="1000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924050" y="3400276"/>
            <a:ext cx="1047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697313" y="1754385"/>
            <a:ext cx="2381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587775" y="3400276"/>
            <a:ext cx="1066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7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5749825" y="3400276"/>
            <a:ext cx="12477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7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442275" y="1754385"/>
            <a:ext cx="2667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7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347025" y="3400276"/>
            <a:ext cx="1047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7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9490025" y="3400276"/>
            <a:ext cx="11525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7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AUTOMATED OPERATIONS</a:t>
            </a:r>
            <a:endParaRPr/>
          </a:p>
        </p:txBody>
      </p:sp>
      <p:sp>
        <p:nvSpPr>
          <p:cNvPr id="197" name="Google Shape;197;p17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Corporate Collateral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2" name="Google Shape;20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73385"/>
            <a:ext cx="5381625" cy="26808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1373385"/>
            <a:ext cx="5381625" cy="268084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8"/>
          <p:cNvSpPr txBox="1"/>
          <p:nvPr/>
        </p:nvSpPr>
        <p:spPr>
          <a:xfrm>
            <a:off x="866775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Digital &amp; Creative Media</a:t>
            </a:r>
            <a:endParaRPr/>
          </a:p>
        </p:txBody>
      </p:sp>
      <p:sp>
        <p:nvSpPr>
          <p:cNvPr id="206" name="Google Shape;206;p18"/>
          <p:cNvSpPr txBox="1"/>
          <p:nvPr/>
        </p:nvSpPr>
        <p:spPr>
          <a:xfrm>
            <a:off x="866775" y="1996826"/>
            <a:ext cx="47910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Omni-channel assets optimized for immediate deployment across web, email, and social campaigns without design delays.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866775" y="3387476"/>
            <a:ext cx="479107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Flexible Supporting Library: Includes festival graphics, greetings, event passes, certificates, and HR creatives organized by category.</a:t>
            </a: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6534150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4ADE80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Print &amp; Visual Archive</a:t>
            </a:r>
            <a:endParaRPr/>
          </a:p>
        </p:txBody>
      </p:sp>
      <p:sp>
        <p:nvSpPr>
          <p:cNvPr id="209" name="Google Shape;209;p18"/>
          <p:cNvSpPr txBox="1"/>
          <p:nvPr/>
        </p:nvSpPr>
        <p:spPr>
          <a:xfrm>
            <a:off x="6534150" y="1996826"/>
            <a:ext cx="47910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Production-ready print assets and historical photograph archive preserving Transvolt's operational milestones.</a:t>
            </a:r>
            <a:endParaRPr/>
          </a:p>
        </p:txBody>
      </p:sp>
      <p:sp>
        <p:nvSpPr>
          <p:cNvPr id="210" name="Google Shape;210;p18"/>
          <p:cNvSpPr txBox="1"/>
          <p:nvPr/>
        </p:nvSpPr>
        <p:spPr>
          <a:xfrm>
            <a:off x="6534150" y="3387476"/>
            <a:ext cx="479107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Photo Repository: High-resolution records of EV deployments, charger installations, site visits, client interactions, and milestones.</a:t>
            </a:r>
            <a:endParaRPr/>
          </a:p>
        </p:txBody>
      </p:sp>
      <p:pic>
        <p:nvPicPr>
          <p:cNvPr descr="image.png" id="211" name="Google Shape;21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6775" y="1678185"/>
            <a:ext cx="2190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606426"/>
            <a:ext cx="14382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400300" y="2606426"/>
            <a:ext cx="12668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762375" y="2606426"/>
            <a:ext cx="9810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6775" y="2968376"/>
            <a:ext cx="11334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6" name="Google Shape;216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34150" y="1678185"/>
            <a:ext cx="1809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34150" y="2606426"/>
            <a:ext cx="12192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848600" y="2606426"/>
            <a:ext cx="10477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991600" y="2606426"/>
            <a:ext cx="13620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534150" y="2968376"/>
            <a:ext cx="101917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8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CREATIVE REPOSITORIES</a:t>
            </a:r>
            <a:endParaRPr/>
          </a:p>
        </p:txBody>
      </p:sp>
      <p:sp>
        <p:nvSpPr>
          <p:cNvPr id="222" name="Google Shape;222;p18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Digital &amp; Print Assets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7" name="Google Shape;22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68785"/>
            <a:ext cx="5286375" cy="809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19"/>
          <p:cNvSpPr txBox="1"/>
          <p:nvPr/>
        </p:nvSpPr>
        <p:spPr>
          <a:xfrm>
            <a:off x="571500" y="571500"/>
            <a:ext cx="5286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FLEET &amp; INFRASTRUCTURE</a:t>
            </a: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571500" y="771525"/>
            <a:ext cx="5550693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Vehicle &amp; Charger Branding</a:t>
            </a:r>
            <a:endParaRPr/>
          </a:p>
        </p:txBody>
      </p:sp>
      <p:pic>
        <p:nvPicPr>
          <p:cNvPr descr="image.png" id="231" name="Google Shape;23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9"/>
          <p:cNvSpPr txBox="1"/>
          <p:nvPr/>
        </p:nvSpPr>
        <p:spPr>
          <a:xfrm>
            <a:off x="571500" y="1468635"/>
            <a:ext cx="528637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Transvolt deploys diverse commercial EV models and chargers across multi-state infrastructure, requiring exact dimensional precision.</a:t>
            </a: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571500" y="2049660"/>
            <a:ext cx="528637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The portal binds approved artwork to OEM, vehicle model, charger type, and project specifications, stopping outdated files before fabrication.</a:t>
            </a:r>
            <a:endParaRPr/>
          </a:p>
        </p:txBody>
      </p:sp>
      <p:sp>
        <p:nvSpPr>
          <p:cNvPr id="234" name="Google Shape;234;p19"/>
          <p:cNvSpPr txBox="1"/>
          <p:nvPr/>
        </p:nvSpPr>
        <p:spPr>
          <a:xfrm>
            <a:off x="771525" y="2830710"/>
            <a:ext cx="48863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STANDARDIZED WORKFLOW</a:t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771525" y="3030735"/>
            <a:ext cx="48863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Artwork Created → Stakeholder Verified → Controlled Vendor Link → Error-Free Installation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0" name="Google Shape;24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73385"/>
            <a:ext cx="5381625" cy="34595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1373385"/>
            <a:ext cx="5381625" cy="34595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6775" y="2587376"/>
            <a:ext cx="479107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3638698"/>
            <a:ext cx="479107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34150" y="2587376"/>
            <a:ext cx="4791075" cy="712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34150" y="3452068"/>
            <a:ext cx="4791075" cy="71229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0"/>
          <p:cNvSpPr txBox="1"/>
          <p:nvPr/>
        </p:nvSpPr>
        <p:spPr>
          <a:xfrm>
            <a:off x="866775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Unified Portal Dashboard</a:t>
            </a:r>
            <a:endParaRPr/>
          </a:p>
        </p:txBody>
      </p:sp>
      <p:sp>
        <p:nvSpPr>
          <p:cNvPr id="248" name="Google Shape;248;p20"/>
          <p:cNvSpPr txBox="1"/>
          <p:nvPr/>
        </p:nvSpPr>
        <p:spPr>
          <a:xfrm>
            <a:off x="866775" y="1996826"/>
            <a:ext cx="47910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Instant visibility into asset utilization, system notifications, and operational requests across the Transvolt network.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6534150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0025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4ADE80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Site-Wise Org Structure</a:t>
            </a:r>
            <a:endParaRPr/>
          </a:p>
        </p:txBody>
      </p:sp>
      <p:sp>
        <p:nvSpPr>
          <p:cNvPr id="250" name="Google Shape;250;p20"/>
          <p:cNvSpPr txBox="1"/>
          <p:nvPr/>
        </p:nvSpPr>
        <p:spPr>
          <a:xfrm>
            <a:off x="6534150" y="1996826"/>
            <a:ext cx="47910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Dynamic mapping of personnel, roles, and depot hierarchies across head offices, regional operating hubs, and EV stations.</a:t>
            </a:r>
            <a:endParaRPr/>
          </a:p>
        </p:txBody>
      </p:sp>
      <p:pic>
        <p:nvPicPr>
          <p:cNvPr descr="image.png" id="251" name="Google Shape;251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6775" y="1678185"/>
            <a:ext cx="1809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34150" y="1678185"/>
            <a:ext cx="20002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0"/>
          <p:cNvSpPr txBox="1"/>
          <p:nvPr/>
        </p:nvSpPr>
        <p:spPr>
          <a:xfrm>
            <a:off x="1085850" y="2739776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Single-Click Navigation</a:t>
            </a:r>
            <a:endParaRPr/>
          </a:p>
        </p:txBody>
      </p:sp>
      <p:sp>
        <p:nvSpPr>
          <p:cNvPr id="254" name="Google Shape;254;p20"/>
          <p:cNvSpPr txBox="1"/>
          <p:nvPr/>
        </p:nvSpPr>
        <p:spPr>
          <a:xfrm>
            <a:off x="1085850" y="2960637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Direct shortcuts to high-frequency folders, entity stationery, and vehicle art packages.</a:t>
            </a:r>
            <a:endParaRPr/>
          </a:p>
        </p:txBody>
      </p:sp>
      <p:sp>
        <p:nvSpPr>
          <p:cNvPr id="255" name="Google Shape;255;p20"/>
          <p:cNvSpPr txBox="1"/>
          <p:nvPr/>
        </p:nvSpPr>
        <p:spPr>
          <a:xfrm>
            <a:off x="1085850" y="3791098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Live Notifications &amp; Audits</a:t>
            </a:r>
            <a:endParaRPr/>
          </a:p>
        </p:txBody>
      </p:sp>
      <p:sp>
        <p:nvSpPr>
          <p:cNvPr id="256" name="Google Shape;256;p20"/>
          <p:cNvSpPr txBox="1"/>
          <p:nvPr/>
        </p:nvSpPr>
        <p:spPr>
          <a:xfrm>
            <a:off x="1085850" y="4011959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Notification bell tracks pending access requests, asset expirations, and new uploads.</a:t>
            </a:r>
            <a:endParaRPr/>
          </a:p>
        </p:txBody>
      </p:sp>
      <p:sp>
        <p:nvSpPr>
          <p:cNvPr id="257" name="Google Shape;257;p20"/>
          <p:cNvSpPr txBox="1"/>
          <p:nvPr/>
        </p:nvSpPr>
        <p:spPr>
          <a:xfrm>
            <a:off x="6753225" y="2739776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Auto-Arranged Hierarchies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6753225" y="2960637"/>
            <a:ext cx="438150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Flexible connectors and visual tree generation for site-level management.</a:t>
            </a:r>
            <a:endParaRPr/>
          </a:p>
        </p:txBody>
      </p:sp>
      <p:sp>
        <p:nvSpPr>
          <p:cNvPr id="259" name="Google Shape;259;p20"/>
          <p:cNvSpPr txBox="1"/>
          <p:nvPr/>
        </p:nvSpPr>
        <p:spPr>
          <a:xfrm>
            <a:off x="6753225" y="3604468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Instant Export &amp; Access</a:t>
            </a:r>
            <a:endParaRPr/>
          </a:p>
        </p:txBody>
      </p:sp>
      <p:sp>
        <p:nvSpPr>
          <p:cNvPr id="260" name="Google Shape;260;p20"/>
          <p:cNvSpPr txBox="1"/>
          <p:nvPr/>
        </p:nvSpPr>
        <p:spPr>
          <a:xfrm>
            <a:off x="6753225" y="3825329"/>
            <a:ext cx="4381500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Generate clean, exportable org charts with role-based visibility controls.</a:t>
            </a:r>
            <a:endParaRPr/>
          </a:p>
        </p:txBody>
      </p:sp>
      <p:sp>
        <p:nvSpPr>
          <p:cNvPr id="261" name="Google Shape;261;p20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DEPOT &amp; TEAM MANAGEMENT</a:t>
            </a:r>
            <a:endParaRPr/>
          </a:p>
        </p:txBody>
      </p:sp>
      <p:sp>
        <p:nvSpPr>
          <p:cNvPr id="262" name="Google Shape;262;p20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Structure &amp; Dashboard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7" name="Google Shape;26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8" name="Google Shape;26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73385"/>
            <a:ext cx="5381625" cy="34785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9" name="Google Shape;26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1373385"/>
            <a:ext cx="5381625" cy="34785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34150" y="2606426"/>
            <a:ext cx="479107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34150" y="3657748"/>
            <a:ext cx="4791075" cy="898921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1"/>
          <p:cNvSpPr txBox="1"/>
          <p:nvPr/>
        </p:nvSpPr>
        <p:spPr>
          <a:xfrm>
            <a:off x="866775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4ADE80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Granular Role Permissions</a:t>
            </a:r>
            <a:endParaRPr/>
          </a:p>
        </p:txBody>
      </p:sp>
      <p:sp>
        <p:nvSpPr>
          <p:cNvPr id="273" name="Google Shape;273;p21"/>
          <p:cNvSpPr txBox="1"/>
          <p:nvPr/>
        </p:nvSpPr>
        <p:spPr>
          <a:xfrm>
            <a:off x="866775" y="1996826"/>
            <a:ext cx="47910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Super Admin assigns exact permissions at the individual page level rather than giving blanket system access.</a:t>
            </a:r>
            <a:endParaRPr/>
          </a:p>
        </p:txBody>
      </p:sp>
      <p:sp>
        <p:nvSpPr>
          <p:cNvPr id="274" name="Google Shape;274;p21"/>
          <p:cNvSpPr txBox="1"/>
          <p:nvPr/>
        </p:nvSpPr>
        <p:spPr>
          <a:xfrm>
            <a:off x="866775" y="3025526"/>
            <a:ext cx="479107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Applies to in-house teams, regional depot heads, OEM partners, contractors, and production vendors.</a:t>
            </a:r>
            <a:endParaRPr/>
          </a:p>
        </p:txBody>
      </p:sp>
      <p:sp>
        <p:nvSpPr>
          <p:cNvPr id="275" name="Google Shape;275;p21"/>
          <p:cNvSpPr txBox="1"/>
          <p:nvPr/>
        </p:nvSpPr>
        <p:spPr>
          <a:xfrm>
            <a:off x="6534150" y="1668660"/>
            <a:ext cx="5030628" cy="213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lnSpc>
                <a:spcPct val="11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4" u="none" cap="none" strike="noStrike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Smart Access Request Flow</a:t>
            </a:r>
            <a:endParaRPr/>
          </a:p>
        </p:txBody>
      </p:sp>
      <p:sp>
        <p:nvSpPr>
          <p:cNvPr id="276" name="Google Shape;276;p21"/>
          <p:cNvSpPr txBox="1"/>
          <p:nvPr/>
        </p:nvSpPr>
        <p:spPr>
          <a:xfrm>
            <a:off x="6534150" y="1996826"/>
            <a:ext cx="47910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Zero friction for requesters combined with complete administrative control and audit logging.</a:t>
            </a:r>
            <a:endParaRPr/>
          </a:p>
        </p:txBody>
      </p:sp>
      <p:pic>
        <p:nvPicPr>
          <p:cNvPr descr="image.png" id="277" name="Google Shape;277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1678185"/>
            <a:ext cx="2190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2606426"/>
            <a:ext cx="5429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504950" y="2606426"/>
            <a:ext cx="8096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409825" y="2606426"/>
            <a:ext cx="5905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095625" y="2606426"/>
            <a:ext cx="647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3838575" y="2606426"/>
            <a:ext cx="4667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400550" y="2606426"/>
            <a:ext cx="7143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1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534150" y="1678185"/>
            <a:ext cx="152400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1"/>
          <p:cNvSpPr txBox="1"/>
          <p:nvPr/>
        </p:nvSpPr>
        <p:spPr>
          <a:xfrm>
            <a:off x="6753225" y="2758826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Step 1: Simple User Request</a:t>
            </a:r>
            <a:endParaRPr/>
          </a:p>
        </p:txBody>
      </p:sp>
      <p:sp>
        <p:nvSpPr>
          <p:cNvPr id="286" name="Google Shape;286;p21"/>
          <p:cNvSpPr txBox="1"/>
          <p:nvPr/>
        </p:nvSpPr>
        <p:spPr>
          <a:xfrm>
            <a:off x="6753225" y="2979687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Applicant submits their corporate email from the login page without tedious forms.</a:t>
            </a:r>
            <a:endParaRPr/>
          </a:p>
        </p:txBody>
      </p:sp>
      <p:sp>
        <p:nvSpPr>
          <p:cNvPr id="287" name="Google Shape;287;p21"/>
          <p:cNvSpPr txBox="1"/>
          <p:nvPr/>
        </p:nvSpPr>
        <p:spPr>
          <a:xfrm>
            <a:off x="6753225" y="3810148"/>
            <a:ext cx="4600575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Step 2: Admin One-Click Approval</a:t>
            </a:r>
            <a:endParaRPr/>
          </a:p>
        </p:txBody>
      </p:sp>
      <p:sp>
        <p:nvSpPr>
          <p:cNvPr id="288" name="Google Shape;288;p21"/>
          <p:cNvSpPr txBox="1"/>
          <p:nvPr/>
        </p:nvSpPr>
        <p:spPr>
          <a:xfrm>
            <a:off x="6753225" y="4031009"/>
            <a:ext cx="438150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Super Admin sees the notification badge, assigns exact page roles, and approves instantly.</a:t>
            </a:r>
            <a:endParaRPr/>
          </a:p>
        </p:txBody>
      </p:sp>
      <p:sp>
        <p:nvSpPr>
          <p:cNvPr id="289" name="Google Shape;289;p21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SECURITY &amp; GOVERNANCE</a:t>
            </a:r>
            <a:endParaRPr/>
          </a:p>
        </p:txBody>
      </p:sp>
      <p:sp>
        <p:nvSpPr>
          <p:cNvPr id="290" name="Google Shape;290;p21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Security &amp; Access Governance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5" name="Google Shape;29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190750"/>
            <a:ext cx="5381625" cy="19002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2958107"/>
            <a:ext cx="5381625" cy="898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4009429"/>
            <a:ext cx="5381625" cy="898921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2"/>
          <p:cNvSpPr txBox="1"/>
          <p:nvPr/>
        </p:nvSpPr>
        <p:spPr>
          <a:xfrm>
            <a:off x="6238875" y="1373385"/>
            <a:ext cx="5650706" cy="5941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Protecting Brand IP from Uncontrolled Exposure</a:t>
            </a:r>
            <a:endParaRPr/>
          </a:p>
        </p:txBody>
      </p:sp>
      <p:sp>
        <p:nvSpPr>
          <p:cNvPr id="300" name="Google Shape;300;p22"/>
          <p:cNvSpPr txBox="1"/>
          <p:nvPr/>
        </p:nvSpPr>
        <p:spPr>
          <a:xfrm>
            <a:off x="6238875" y="2119907"/>
            <a:ext cx="538162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External vendors often require master high-resolution assets for fabrication. The portal replaces messy file attachments with temporary, tracked access packages.</a:t>
            </a:r>
            <a:endParaRPr/>
          </a:p>
        </p:txBody>
      </p:sp>
      <p:sp>
        <p:nvSpPr>
          <p:cNvPr id="301" name="Google Shape;301;p22"/>
          <p:cNvSpPr txBox="1"/>
          <p:nvPr/>
        </p:nvSpPr>
        <p:spPr>
          <a:xfrm>
            <a:off x="2595562" y="2486025"/>
            <a:ext cx="13335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700" u="none" cap="none" strike="noStrik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6 HRS</a:t>
            </a:r>
            <a:endParaRPr/>
          </a:p>
        </p:txBody>
      </p:sp>
      <p:sp>
        <p:nvSpPr>
          <p:cNvPr id="302" name="Google Shape;302;p22"/>
          <p:cNvSpPr txBox="1"/>
          <p:nvPr/>
        </p:nvSpPr>
        <p:spPr>
          <a:xfrm>
            <a:off x="2081212" y="3305175"/>
            <a:ext cx="23622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1F5F9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Secure Vendor Access Window</a:t>
            </a:r>
            <a:endParaRPr/>
          </a:p>
        </p:txBody>
      </p:sp>
      <p:sp>
        <p:nvSpPr>
          <p:cNvPr id="303" name="Google Shape;303;p22"/>
          <p:cNvSpPr txBox="1"/>
          <p:nvPr/>
        </p:nvSpPr>
        <p:spPr>
          <a:xfrm>
            <a:off x="1700212" y="3609975"/>
            <a:ext cx="31242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Self-expiring link duration for production-ready packages</a:t>
            </a:r>
            <a:endParaRPr/>
          </a:p>
        </p:txBody>
      </p:sp>
      <p:sp>
        <p:nvSpPr>
          <p:cNvPr id="304" name="Google Shape;304;p22"/>
          <p:cNvSpPr txBox="1"/>
          <p:nvPr/>
        </p:nvSpPr>
        <p:spPr>
          <a:xfrm>
            <a:off x="6457950" y="3110507"/>
            <a:ext cx="5220652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Targeted Asset Package</a:t>
            </a:r>
            <a:endParaRPr/>
          </a:p>
        </p:txBody>
      </p:sp>
      <p:sp>
        <p:nvSpPr>
          <p:cNvPr id="305" name="Google Shape;305;p22"/>
          <p:cNvSpPr txBox="1"/>
          <p:nvPr/>
        </p:nvSpPr>
        <p:spPr>
          <a:xfrm>
            <a:off x="6457950" y="3331368"/>
            <a:ext cx="49720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Select exact files (e.g. Bus Vinyl Vector + Official CMYK Palette) into one share package.</a:t>
            </a:r>
            <a:endParaRPr/>
          </a:p>
        </p:txBody>
      </p:sp>
      <p:sp>
        <p:nvSpPr>
          <p:cNvPr id="306" name="Google Shape;306;p22"/>
          <p:cNvSpPr txBox="1"/>
          <p:nvPr/>
        </p:nvSpPr>
        <p:spPr>
          <a:xfrm>
            <a:off x="6457950" y="4161829"/>
            <a:ext cx="5220652" cy="182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Automatic Expiration</a:t>
            </a:r>
            <a:endParaRPr/>
          </a:p>
        </p:txBody>
      </p:sp>
      <p:sp>
        <p:nvSpPr>
          <p:cNvPr id="307" name="Google Shape;307;p22"/>
          <p:cNvSpPr txBox="1"/>
          <p:nvPr/>
        </p:nvSpPr>
        <p:spPr>
          <a:xfrm>
            <a:off x="6457950" y="4382690"/>
            <a:ext cx="4972050" cy="373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Link expires automatically after 6 hours, safeguarding files from leaking or unauthorized reuse.</a:t>
            </a:r>
            <a:endParaRPr/>
          </a:p>
        </p:txBody>
      </p:sp>
      <p:sp>
        <p:nvSpPr>
          <p:cNvPr id="308" name="Google Shape;308;p22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CONTROLLED DISTRIBUTION</a:t>
            </a:r>
            <a:endParaRPr/>
          </a:p>
        </p:txBody>
      </p:sp>
      <p:sp>
        <p:nvSpPr>
          <p:cNvPr id="309" name="Google Shape;309;p22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Time-Controlled Sharing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4" name="Google Shape;31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15" name="Google Shape;315;p23"/>
          <p:cNvGraphicFramePr/>
          <p:nvPr/>
        </p:nvGraphicFramePr>
        <p:xfrm>
          <a:off x="571500" y="137338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{87F0A929-4964-4C0A-B5D0-61B2BCEA5565}</a:tableStyleId>
              </a:tblPr>
              <a:tblGrid>
                <a:gridCol w="2762250"/>
                <a:gridCol w="4143375"/>
                <a:gridCol w="4143375"/>
              </a:tblGrid>
              <a:tr h="71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1F5F9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Workflow Dimension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1F5F9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Previous Scattered Method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1F5F9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Transvolt Brand Portal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71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Asset Retrieval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Disorganized WhatsApp requests, email hunting, obsolete local folders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Instant Direct search in centralized, categorized cloud repository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Version Integrity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High Risk Outdated logos and incorrect legal entity letterheads used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100% Verified Only approved, latest corporate versions visible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Fleet &amp; Charger Branding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Frequent Rework Wrong artwork sent to wrap shops; dimensional mismatch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Validated Specific artwork mapped strictly by OEM, model, &amp; project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Vendor Collaboration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Uncontrolled Master design packages emailed permanently without expiry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94A3B8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Governed Time-limited (6h) encrypted links with view/download controls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16" name="Google Shape;316;p23"/>
          <p:cNvSpPr/>
          <p:nvPr/>
        </p:nvSpPr>
        <p:spPr>
          <a:xfrm>
            <a:off x="571500" y="1940123"/>
            <a:ext cx="27622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3"/>
          <p:cNvSpPr/>
          <p:nvPr/>
        </p:nvSpPr>
        <p:spPr>
          <a:xfrm>
            <a:off x="3333750" y="1940123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3"/>
          <p:cNvSpPr/>
          <p:nvPr/>
        </p:nvSpPr>
        <p:spPr>
          <a:xfrm>
            <a:off x="7477125" y="1940123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3"/>
          <p:cNvSpPr/>
          <p:nvPr/>
        </p:nvSpPr>
        <p:spPr>
          <a:xfrm>
            <a:off x="571500" y="2692598"/>
            <a:ext cx="27622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3"/>
          <p:cNvSpPr/>
          <p:nvPr/>
        </p:nvSpPr>
        <p:spPr>
          <a:xfrm>
            <a:off x="3333750" y="2692598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3"/>
          <p:cNvSpPr/>
          <p:nvPr/>
        </p:nvSpPr>
        <p:spPr>
          <a:xfrm>
            <a:off x="7477125" y="2692598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3"/>
          <p:cNvSpPr/>
          <p:nvPr/>
        </p:nvSpPr>
        <p:spPr>
          <a:xfrm>
            <a:off x="571500" y="3445073"/>
            <a:ext cx="27622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3"/>
          <p:cNvSpPr/>
          <p:nvPr/>
        </p:nvSpPr>
        <p:spPr>
          <a:xfrm>
            <a:off x="3333750" y="3445073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3"/>
          <p:cNvSpPr/>
          <p:nvPr/>
        </p:nvSpPr>
        <p:spPr>
          <a:xfrm>
            <a:off x="7477125" y="3445073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3"/>
          <p:cNvSpPr/>
          <p:nvPr/>
        </p:nvSpPr>
        <p:spPr>
          <a:xfrm>
            <a:off x="571500" y="4197548"/>
            <a:ext cx="27622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3"/>
          <p:cNvSpPr/>
          <p:nvPr/>
        </p:nvSpPr>
        <p:spPr>
          <a:xfrm>
            <a:off x="3333750" y="4197548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3"/>
          <p:cNvSpPr/>
          <p:nvPr/>
        </p:nvSpPr>
        <p:spPr>
          <a:xfrm>
            <a:off x="7477125" y="4197548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3"/>
          <p:cNvSpPr/>
          <p:nvPr/>
        </p:nvSpPr>
        <p:spPr>
          <a:xfrm>
            <a:off x="571500" y="4950023"/>
            <a:ext cx="276225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3"/>
          <p:cNvSpPr/>
          <p:nvPr/>
        </p:nvSpPr>
        <p:spPr>
          <a:xfrm>
            <a:off x="3333750" y="4950023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3"/>
          <p:cNvSpPr/>
          <p:nvPr/>
        </p:nvSpPr>
        <p:spPr>
          <a:xfrm>
            <a:off x="7477125" y="4950023"/>
            <a:ext cx="414337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1" name="Google Shape;33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4250" y="2125860"/>
            <a:ext cx="8572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67625" y="2125860"/>
            <a:ext cx="5238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24250" y="2878335"/>
            <a:ext cx="6381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67625" y="2978348"/>
            <a:ext cx="8763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524250" y="3630810"/>
            <a:ext cx="10668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6" name="Google Shape;336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67625" y="3630810"/>
            <a:ext cx="6762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7" name="Google Shape;337;p2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524250" y="4383285"/>
            <a:ext cx="8477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8" name="Google Shape;338;p2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667625" y="4383285"/>
            <a:ext cx="7048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3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OPERATIONAL SHIFT</a:t>
            </a:r>
            <a:endParaRPr/>
          </a:p>
        </p:txBody>
      </p:sp>
      <p:sp>
        <p:nvSpPr>
          <p:cNvPr id="340" name="Google Shape;340;p23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The System Transformation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5" name="Google Shape;34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6" name="Google Shape;34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619351"/>
            <a:ext cx="11049000" cy="7572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7" name="Google Shape;347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373385"/>
            <a:ext cx="3530500" cy="20554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8" name="Google Shape;348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30600" y="1373385"/>
            <a:ext cx="3530649" cy="20554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9" name="Google Shape;34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89850" y="1373385"/>
            <a:ext cx="3530500" cy="20554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0" name="Google Shape;350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867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24"/>
          <p:cNvSpPr txBox="1"/>
          <p:nvPr/>
        </p:nvSpPr>
        <p:spPr>
          <a:xfrm>
            <a:off x="828675" y="2259210"/>
            <a:ext cx="3166958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Saves Time &amp; Labor</a:t>
            </a:r>
            <a:endParaRPr/>
          </a:p>
        </p:txBody>
      </p:sp>
      <p:sp>
        <p:nvSpPr>
          <p:cNvPr id="352" name="Google Shape;352;p24"/>
          <p:cNvSpPr txBox="1"/>
          <p:nvPr/>
        </p:nvSpPr>
        <p:spPr>
          <a:xfrm>
            <a:off x="828675" y="2571601"/>
            <a:ext cx="30161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Eliminates repetitive internal email requests, designer dependencies, and manual search across local drives.</a:t>
            </a:r>
            <a:endParaRPr/>
          </a:p>
        </p:txBody>
      </p:sp>
      <p:pic>
        <p:nvPicPr>
          <p:cNvPr descr="image.png" id="353" name="Google Shape;353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8777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4"/>
          <p:cNvSpPr txBox="1"/>
          <p:nvPr/>
        </p:nvSpPr>
        <p:spPr>
          <a:xfrm>
            <a:off x="4587775" y="2259210"/>
            <a:ext cx="3167114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Brand Consistency</a:t>
            </a:r>
            <a:endParaRPr/>
          </a:p>
        </p:txBody>
      </p:sp>
      <p:sp>
        <p:nvSpPr>
          <p:cNvPr id="355" name="Google Shape;355;p24"/>
          <p:cNvSpPr txBox="1"/>
          <p:nvPr/>
        </p:nvSpPr>
        <p:spPr>
          <a:xfrm>
            <a:off x="4587775" y="2571601"/>
            <a:ext cx="3016299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Guarantees uniform presence across every state, commercial depot, public touchpoint, and digital platform.</a:t>
            </a:r>
            <a:endParaRPr/>
          </a:p>
        </p:txBody>
      </p:sp>
      <p:pic>
        <p:nvPicPr>
          <p:cNvPr descr="image.png" id="356" name="Google Shape;356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47025" y="1630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4"/>
          <p:cNvSpPr txBox="1"/>
          <p:nvPr/>
        </p:nvSpPr>
        <p:spPr>
          <a:xfrm>
            <a:off x="8347025" y="2259210"/>
            <a:ext cx="3166958" cy="217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Zero Rework Costs</a:t>
            </a:r>
            <a:endParaRPr/>
          </a:p>
        </p:txBody>
      </p:sp>
      <p:sp>
        <p:nvSpPr>
          <p:cNvPr id="358" name="Google Shape;358;p24"/>
          <p:cNvSpPr txBox="1"/>
          <p:nvPr/>
        </p:nvSpPr>
        <p:spPr>
          <a:xfrm>
            <a:off x="8347025" y="2571601"/>
            <a:ext cx="30161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Prevents costly printing, vinyl re-wraps, and physical installation errors on transit vehicles and charging hardware.</a:t>
            </a:r>
            <a:endParaRPr/>
          </a:p>
        </p:txBody>
      </p:sp>
      <p:pic>
        <p:nvPicPr>
          <p:cNvPr descr="image.png" id="359" name="Google Shape;359;p2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09625" y="3847951"/>
            <a:ext cx="190500" cy="3286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0" name="Google Shape;360;p2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397275" y="3847951"/>
            <a:ext cx="238125" cy="3286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1" name="Google Shape;361;p2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985075" y="3847951"/>
            <a:ext cx="190500" cy="3286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2" name="Google Shape;362;p2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52500" y="175438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24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711600" y="175438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4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456562" y="1754385"/>
            <a:ext cx="23812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24"/>
          <p:cNvSpPr txBox="1"/>
          <p:nvPr/>
        </p:nvSpPr>
        <p:spPr>
          <a:xfrm>
            <a:off x="1114425" y="3819376"/>
            <a:ext cx="203025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Strengthens Security</a:t>
            </a:r>
            <a:endParaRPr/>
          </a:p>
        </p:txBody>
      </p:sp>
      <p:sp>
        <p:nvSpPr>
          <p:cNvPr id="366" name="Google Shape;366;p24"/>
          <p:cNvSpPr txBox="1"/>
          <p:nvPr/>
        </p:nvSpPr>
        <p:spPr>
          <a:xfrm>
            <a:off x="1114425" y="3990826"/>
            <a:ext cx="1933575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Restricts access to approved users.</a:t>
            </a:r>
            <a:endParaRPr/>
          </a:p>
        </p:txBody>
      </p:sp>
      <p:sp>
        <p:nvSpPr>
          <p:cNvPr id="367" name="Google Shape;367;p24"/>
          <p:cNvSpPr txBox="1"/>
          <p:nvPr/>
        </p:nvSpPr>
        <p:spPr>
          <a:xfrm>
            <a:off x="4749700" y="3819376"/>
            <a:ext cx="19502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Unified Collaboration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4749700" y="3990826"/>
            <a:ext cx="1857375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Teams and partners work in sync.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8289875" y="3819376"/>
            <a:ext cx="209026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Seamless Scalability</a:t>
            </a:r>
            <a:endParaRPr/>
          </a:p>
        </p:txBody>
      </p:sp>
      <p:sp>
        <p:nvSpPr>
          <p:cNvPr id="370" name="Google Shape;370;p24"/>
          <p:cNvSpPr txBox="1"/>
          <p:nvPr/>
        </p:nvSpPr>
        <p:spPr>
          <a:xfrm>
            <a:off x="8289875" y="3990826"/>
            <a:ext cx="1990725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Expands as Transvolt adds projects.</a:t>
            </a:r>
            <a:endParaRPr/>
          </a:p>
        </p:txBody>
      </p:sp>
      <p:sp>
        <p:nvSpPr>
          <p:cNvPr id="371" name="Google Shape;371;p24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VALUE PROPOSITION</a:t>
            </a:r>
            <a:endParaRPr/>
          </a:p>
        </p:txBody>
      </p:sp>
      <p:sp>
        <p:nvSpPr>
          <p:cNvPr id="372" name="Google Shape;372;p24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Strategic Business Value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8" name="Google Shape;37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73385"/>
            <a:ext cx="2647950" cy="15562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9" name="Google Shape;379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71850" y="1373385"/>
            <a:ext cx="2647950" cy="15562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0" name="Google Shape;380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72200" y="1373385"/>
            <a:ext cx="2647950" cy="15562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1" name="Google Shape;381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972550" y="1373385"/>
            <a:ext cx="2647950" cy="15562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2" name="Google Shape;382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082081"/>
            <a:ext cx="3581400" cy="15562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3" name="Google Shape;383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05300" y="3082081"/>
            <a:ext cx="3581400" cy="15562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4" name="Google Shape;384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39100" y="3082081"/>
            <a:ext cx="3581400" cy="15562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5" name="Google Shape;385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25" y="157341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25"/>
          <p:cNvSpPr txBox="1"/>
          <p:nvPr/>
        </p:nvSpPr>
        <p:spPr>
          <a:xfrm>
            <a:off x="771525" y="2068710"/>
            <a:ext cx="2360295" cy="194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1. STORE</a:t>
            </a:r>
            <a:endParaRPr/>
          </a:p>
        </p:txBody>
      </p:sp>
      <p:sp>
        <p:nvSpPr>
          <p:cNvPr id="387" name="Google Shape;387;p25"/>
          <p:cNvSpPr txBox="1"/>
          <p:nvPr/>
        </p:nvSpPr>
        <p:spPr>
          <a:xfrm>
            <a:off x="771525" y="2358181"/>
            <a:ext cx="22479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Centralize approved corporate info and assets in one resilient repository.</a:t>
            </a:r>
            <a:endParaRPr/>
          </a:p>
        </p:txBody>
      </p:sp>
      <p:pic>
        <p:nvPicPr>
          <p:cNvPr descr="image.png" id="388" name="Google Shape;388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571875" y="157341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25"/>
          <p:cNvSpPr txBox="1"/>
          <p:nvPr/>
        </p:nvSpPr>
        <p:spPr>
          <a:xfrm>
            <a:off x="3571875" y="2068710"/>
            <a:ext cx="2360295" cy="194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2. ORGANIZE</a:t>
            </a:r>
            <a:endParaRPr/>
          </a:p>
        </p:txBody>
      </p:sp>
      <p:sp>
        <p:nvSpPr>
          <p:cNvPr id="390" name="Google Shape;390;p25"/>
          <p:cNvSpPr txBox="1"/>
          <p:nvPr/>
        </p:nvSpPr>
        <p:spPr>
          <a:xfrm>
            <a:off x="3571875" y="2358181"/>
            <a:ext cx="22479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Structure by OEM model, site, entity, project, and media category.</a:t>
            </a:r>
            <a:endParaRPr/>
          </a:p>
        </p:txBody>
      </p:sp>
      <p:pic>
        <p:nvPicPr>
          <p:cNvPr descr="image.png" id="391" name="Google Shape;391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72225" y="157341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25"/>
          <p:cNvSpPr txBox="1"/>
          <p:nvPr/>
        </p:nvSpPr>
        <p:spPr>
          <a:xfrm>
            <a:off x="6372225" y="2068710"/>
            <a:ext cx="2360295" cy="194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3. CONTROL</a:t>
            </a:r>
            <a:endParaRPr/>
          </a:p>
        </p:txBody>
      </p:sp>
      <p:sp>
        <p:nvSpPr>
          <p:cNvPr id="393" name="Google Shape;393;p25"/>
          <p:cNvSpPr txBox="1"/>
          <p:nvPr/>
        </p:nvSpPr>
        <p:spPr>
          <a:xfrm>
            <a:off x="6372225" y="2358181"/>
            <a:ext cx="22479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Manage users, page permissions, and time-bounded access rules.</a:t>
            </a:r>
            <a:endParaRPr/>
          </a:p>
        </p:txBody>
      </p:sp>
      <p:pic>
        <p:nvPicPr>
          <p:cNvPr descr="image.png" id="394" name="Google Shape;394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72575" y="157341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25"/>
          <p:cNvSpPr txBox="1"/>
          <p:nvPr/>
        </p:nvSpPr>
        <p:spPr>
          <a:xfrm>
            <a:off x="9172575" y="2068710"/>
            <a:ext cx="2360295" cy="194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4. VERIFY</a:t>
            </a:r>
            <a:endParaRPr/>
          </a:p>
        </p:txBody>
      </p:sp>
      <p:sp>
        <p:nvSpPr>
          <p:cNvPr id="396" name="Google Shape;396;p25"/>
          <p:cNvSpPr txBox="1"/>
          <p:nvPr/>
        </p:nvSpPr>
        <p:spPr>
          <a:xfrm>
            <a:off x="9172575" y="2358181"/>
            <a:ext cx="22479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Enable stakeholders to confirm approved versions before production.</a:t>
            </a:r>
            <a:endParaRPr/>
          </a:p>
        </p:txBody>
      </p:sp>
      <p:pic>
        <p:nvPicPr>
          <p:cNvPr descr="image.png" id="397" name="Google Shape;397;p2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71525" y="3282106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25"/>
          <p:cNvSpPr txBox="1"/>
          <p:nvPr/>
        </p:nvSpPr>
        <p:spPr>
          <a:xfrm>
            <a:off x="771525" y="3777406"/>
            <a:ext cx="3340417" cy="194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5. GENERATE</a:t>
            </a:r>
            <a:endParaRPr/>
          </a:p>
        </p:txBody>
      </p:sp>
      <p:sp>
        <p:nvSpPr>
          <p:cNvPr id="399" name="Google Shape;399;p25"/>
          <p:cNvSpPr txBox="1"/>
          <p:nvPr/>
        </p:nvSpPr>
        <p:spPr>
          <a:xfrm>
            <a:off x="771525" y="4066877"/>
            <a:ext cx="31813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Automate creation of ID cards, business cards, and site org charts.</a:t>
            </a:r>
            <a:endParaRPr/>
          </a:p>
        </p:txBody>
      </p:sp>
      <p:pic>
        <p:nvPicPr>
          <p:cNvPr descr="image.png" id="400" name="Google Shape;400;p2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505325" y="3282106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25"/>
          <p:cNvSpPr txBox="1"/>
          <p:nvPr/>
        </p:nvSpPr>
        <p:spPr>
          <a:xfrm>
            <a:off x="4505325" y="3777406"/>
            <a:ext cx="3340417" cy="194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6. SHARE</a:t>
            </a:r>
            <a:endParaRPr/>
          </a:p>
        </p:txBody>
      </p:sp>
      <p:sp>
        <p:nvSpPr>
          <p:cNvPr id="402" name="Google Shape;402;p25"/>
          <p:cNvSpPr txBox="1"/>
          <p:nvPr/>
        </p:nvSpPr>
        <p:spPr>
          <a:xfrm>
            <a:off x="4505325" y="4066877"/>
            <a:ext cx="31813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Provide secure, expiring download packages to vendors and partners.</a:t>
            </a:r>
            <a:endParaRPr/>
          </a:p>
        </p:txBody>
      </p:sp>
      <p:pic>
        <p:nvPicPr>
          <p:cNvPr descr="image.png" id="403" name="Google Shape;403;p2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239125" y="3282106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25"/>
          <p:cNvSpPr txBox="1"/>
          <p:nvPr/>
        </p:nvSpPr>
        <p:spPr>
          <a:xfrm>
            <a:off x="8239125" y="3777406"/>
            <a:ext cx="3340417" cy="194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7. MAINTAIN</a:t>
            </a:r>
            <a:endParaRPr/>
          </a:p>
        </p:txBody>
      </p:sp>
      <p:sp>
        <p:nvSpPr>
          <p:cNvPr id="405" name="Google Shape;405;p25"/>
          <p:cNvSpPr txBox="1"/>
          <p:nvPr/>
        </p:nvSpPr>
        <p:spPr>
          <a:xfrm>
            <a:off x="8239125" y="4066877"/>
            <a:ext cx="31813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Replace, retire, hold, and refresh brand standards smoothly over time.</a:t>
            </a:r>
            <a:endParaRPr/>
          </a:p>
        </p:txBody>
      </p:sp>
      <p:pic>
        <p:nvPicPr>
          <p:cNvPr descr="image.png" id="406" name="Google Shape;406;p2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85825" y="1678185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7" name="Google Shape;407;p2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667125" y="1678185"/>
            <a:ext cx="1905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8" name="Google Shape;408;p25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477000" y="1678185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9" name="Google Shape;409;p25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277350" y="1678185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0" name="Google Shape;410;p25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66775" y="3386881"/>
            <a:ext cx="1905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1" name="Google Shape;411;p25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619625" y="3386881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2" name="Google Shape;412;p25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343900" y="3386881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25"/>
          <p:cNvSpPr txBox="1"/>
          <p:nvPr/>
        </p:nvSpPr>
        <p:spPr>
          <a:xfrm>
            <a:off x="571500" y="476250"/>
            <a:ext cx="11049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LIFECYCLE MANAGEMENT</a:t>
            </a:r>
            <a:endParaRPr/>
          </a:p>
        </p:txBody>
      </p:sp>
      <p:sp>
        <p:nvSpPr>
          <p:cNvPr id="414" name="Google Shape;414;p25"/>
          <p:cNvSpPr txBox="1"/>
          <p:nvPr/>
        </p:nvSpPr>
        <p:spPr>
          <a:xfrm>
            <a:off x="571500" y="676275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Seven Pillars of Management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9" name="Google Shape;41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38737" y="1851719"/>
            <a:ext cx="191452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1" name="Google Shape;421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00500" y="4530030"/>
            <a:ext cx="4191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26"/>
          <p:cNvSpPr txBox="1"/>
          <p:nvPr/>
        </p:nvSpPr>
        <p:spPr>
          <a:xfrm>
            <a:off x="2130504" y="2404169"/>
            <a:ext cx="7930991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One Platform. One Trusted Source.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36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One Consistent Transvolt Brand.</a:t>
            </a:r>
            <a:endParaRPr/>
          </a:p>
        </p:txBody>
      </p:sp>
      <p:sp>
        <p:nvSpPr>
          <p:cNvPr id="423" name="Google Shape;423;p26"/>
          <p:cNvSpPr txBox="1"/>
          <p:nvPr/>
        </p:nvSpPr>
        <p:spPr>
          <a:xfrm>
            <a:off x="2476500" y="3672780"/>
            <a:ext cx="72390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Empowering every team member, partner, and vendor to find the right information, verify the right asset, give the right access, and represent Transvolt with confidence.</a:t>
            </a:r>
            <a:endParaRPr/>
          </a:p>
        </p:txBody>
      </p:sp>
      <p:sp>
        <p:nvSpPr>
          <p:cNvPr id="424" name="Google Shape;424;p26"/>
          <p:cNvSpPr txBox="1"/>
          <p:nvPr/>
        </p:nvSpPr>
        <p:spPr>
          <a:xfrm>
            <a:off x="4295775" y="4653855"/>
            <a:ext cx="36004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POWERING A CLEANER, SUSTAINABLE FUTURE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7"/>
        </a:solidFill>
      </p:bgPr>
    </p:bg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29" name="Google Shape;42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27"/>
          <p:cNvSpPr/>
          <p:nvPr/>
        </p:nvSpPr>
        <p:spPr>
          <a:xfrm>
            <a:off x="571500" y="1173360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7"/>
          <p:cNvSpPr/>
          <p:nvPr/>
        </p:nvSpPr>
        <p:spPr>
          <a:xfrm>
            <a:off x="571500" y="193536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7"/>
          <p:cNvSpPr/>
          <p:nvPr/>
        </p:nvSpPr>
        <p:spPr>
          <a:xfrm>
            <a:off x="571500" y="193536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33" name="Google Shape;433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1623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27"/>
          <p:cNvSpPr txBox="1"/>
          <p:nvPr/>
        </p:nvSpPr>
        <p:spPr>
          <a:xfrm>
            <a:off x="1666875" y="1323379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https://www.hyundai.com/content/dam/hyundai/au/en/dxo/mighty-electric/hero/HeroCarousel_MIGHTY_new.png</a:t>
            </a:r>
            <a:endParaRPr/>
          </a:p>
        </p:txBody>
      </p:sp>
      <p:sp>
        <p:nvSpPr>
          <p:cNvPr id="435" name="Google Shape;435;p27"/>
          <p:cNvSpPr txBox="1"/>
          <p:nvPr/>
        </p:nvSpPr>
        <p:spPr>
          <a:xfrm>
            <a:off x="1666875" y="1556742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www.hyundai.com</a:t>
            </a:r>
            <a:endParaRPr/>
          </a:p>
        </p:txBody>
      </p:sp>
      <p:pic>
        <p:nvPicPr>
          <p:cNvPr descr="image.png" id="436" name="Google Shape;436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08776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27"/>
          <p:cNvSpPr txBox="1"/>
          <p:nvPr/>
        </p:nvSpPr>
        <p:spPr>
          <a:xfrm>
            <a:off x="1666875" y="2094904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https://earj6jxwkhd.exactdn.com/wp-content/uploads/2025/06/bibus-x-busdepot-rolf-stutz-web-32.jpg</a:t>
            </a:r>
            <a:endParaRPr/>
          </a:p>
        </p:txBody>
      </p:sp>
      <p:sp>
        <p:nvSpPr>
          <p:cNvPr id="438" name="Google Shape;438;p27"/>
          <p:cNvSpPr txBox="1"/>
          <p:nvPr/>
        </p:nvSpPr>
        <p:spPr>
          <a:xfrm>
            <a:off x="1666875" y="2328267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kempower.com</a:t>
            </a:r>
            <a:endParaRPr/>
          </a:p>
        </p:txBody>
      </p:sp>
      <p:sp>
        <p:nvSpPr>
          <p:cNvPr id="439" name="Google Shape;439;p27"/>
          <p:cNvSpPr txBox="1"/>
          <p:nvPr/>
        </p:nvSpPr>
        <p:spPr>
          <a:xfrm>
            <a:off x="571500" y="476250"/>
            <a:ext cx="11601450" cy="41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Image Sources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